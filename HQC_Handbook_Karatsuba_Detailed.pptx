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80" r:id="rId24"/>
    <p:sldId id="281" r:id="rId25"/>
    <p:sldId id="269" r:id="rId26"/>
    <p:sldId id="284" r:id="rId27"/>
    <p:sldId id="270" r:id="rId28"/>
    <p:sldId id="283" r:id="rId29"/>
    <p:sldId id="271" r:id="rId30"/>
    <p:sldId id="272" r:id="rId31"/>
    <p:sldId id="273" r:id="rId32"/>
    <p:sldId id="285" r:id="rId33"/>
    <p:sldId id="286" r:id="rId34"/>
    <p:sldId id="287" r:id="rId35"/>
    <p:sldId id="288" r:id="rId36"/>
    <p:sldId id="274" r:id="rId37"/>
    <p:sldId id="289" r:id="rId38"/>
    <p:sldId id="290" r:id="rId39"/>
    <p:sldId id="291" r:id="rId40"/>
    <p:sldId id="292" r:id="rId41"/>
    <p:sldId id="293" r:id="rId42"/>
    <p:sldId id="294" r:id="rId43"/>
    <p:sldId id="275" r:id="rId44"/>
    <p:sldId id="309" r:id="rId45"/>
    <p:sldId id="310" r:id="rId46"/>
    <p:sldId id="311" r:id="rId47"/>
    <p:sldId id="312" r:id="rId48"/>
    <p:sldId id="313" r:id="rId49"/>
    <p:sldId id="276" r:id="rId50"/>
    <p:sldId id="277" r:id="rId51"/>
    <p:sldId id="315" r:id="rId52"/>
    <p:sldId id="316" r:id="rId53"/>
    <p:sldId id="317" r:id="rId54"/>
    <p:sldId id="318" r:id="rId55"/>
    <p:sldId id="319" r:id="rId56"/>
    <p:sldId id="320" r:id="rId57"/>
    <p:sldId id="314" r:id="rId58"/>
    <p:sldId id="278" r:id="rId59"/>
    <p:sldId id="279" r:id="rId60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63"/>
    <p:restoredTop sz="94654"/>
  </p:normalViewPr>
  <p:slideViewPr>
    <p:cSldViewPr snapToGrid="0">
      <p:cViewPr varScale="1">
        <p:scale>
          <a:sx n="66" d="100"/>
          <a:sy n="66" d="100"/>
        </p:scale>
        <p:origin x="216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0DDB-4EE1-EF3C-78D8-27206D9AD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A4BC6-4C8C-35BC-A78A-5BE2FDF9D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EC6B5-1720-9348-5F44-8647C46EA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6810A-A1B7-9495-ED5A-72B181AE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12A91-65EE-4039-96BE-6E6CBBF4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7808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404C-B56D-170F-1542-8028F565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C166C-94D0-5321-726D-0BB58E9F9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4018-E9A3-2AC4-673E-756057B7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729B6-7A2E-FDBC-C49B-C2A7A242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1A7A9-13B4-A207-9DF7-55D4D206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06416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C0FBC-ADA9-69F9-565F-A754F1C4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A40F5-70AD-DC8A-3CDF-EC27A75B5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D2593-677C-CFD7-9566-E5D43692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CB446-F7A7-156A-FAD5-152A400C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65628-B461-01E5-007C-A8335096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8163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D1CF-445C-BFE3-2981-4CED1E04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710A-6532-05FE-8B3F-A78864E4B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B9E1B-80BC-7B54-6D34-80C0B3096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8CD67-AD1A-B880-8DD7-290C62D9E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2C6AA-5361-32A5-AB08-CC078C8A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FFD84-8CBB-C87A-CEC8-8CF07102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59479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8B1D-4660-2F24-C18E-05591820F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ED7CE-C647-BEF5-40FE-12DD6438E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2A0E1-E646-176F-3F7C-5956F50AA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38B90-6503-F482-B913-7F91BE77C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0AF4B-5D87-2F29-BAC6-7193FB1C0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4CBC46-AA3B-9D2B-5610-9D2F64A0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3239F-54C8-8593-414B-34D391ED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E55EB-971A-72D3-036A-2E153A900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9564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65F0-8AC3-63B9-A8D4-3499EC774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3CFD4-4088-D5B8-833D-20DD5582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E2190-16BD-D898-03E2-35C267D63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1B377-3A47-6829-B749-9CA657E8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3684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14508-6D99-887B-FFE3-2753E679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B7766-72D7-A152-4E6A-AC7C1018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0AA9E-F781-9D3D-C0FD-11D28D74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59275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0246-09AB-A132-4FD3-C3FC851D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41C24-410A-0385-C614-96ECB4E4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AD794-0442-83D0-0F01-2D4F3F8AE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E6223-AA23-38F5-FEDC-DFBB1E63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471FF-7682-1677-FB18-7BFB4742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629F9-B6FD-3298-3486-5D4A4820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5723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8399-14EE-5CD4-3A7A-464157B62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5129DF-306D-0927-8155-E727A9DA7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723F-3D4E-DD0D-B48F-241A1E474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C1160-5B57-4FB4-0DE2-B7A4712C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B7844-3F4A-BAFB-D3AE-B641DD8E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CF826-A46B-AF04-F1E5-0A92011E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8019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BED6-F72D-5AF4-6CE4-FE783EA4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E2EAE-B599-74AD-51F3-348C81F15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D77B2-F519-1AF9-352C-FDCB84EB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A3D10-89ED-8516-A5B2-859F1C0E8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A9614-5328-ABA6-57A7-63749134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926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9FB11E-0D58-D53E-EE76-7B01623A1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A429D-6A59-FD19-1D15-EB5CFA62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A530A-1EC2-7005-1E76-180C9631F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9B9AE-9C4E-34EA-50D9-8F9A660FE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ECF83-FE46-5716-8DE6-24E5CA0C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12156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95C14-2E2D-DE93-6366-13EDFB87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BB312-FE87-52AC-CCBF-EB46D18B2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323B4-A287-0C11-E2D4-D7AD6F13D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5C458-F94C-CC4D-91B5-7505DBB35A3D}" type="datetimeFigureOut">
              <a:rPr lang="en-TR" smtClean="0"/>
              <a:t>18.01.2026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B1025-AFF1-B3BB-ED12-57B08C83C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F5C7E-5CB0-22CA-9849-35CFAD352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83EFC-7A23-AF4E-A097-18B0204D808B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2602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8F625-634C-AE0F-6D23-36A6AD0F2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TR" dirty="0"/>
              <a:t>HQC Handbook</a:t>
            </a:r>
          </a:p>
        </p:txBody>
      </p:sp>
    </p:spTree>
    <p:extLst>
      <p:ext uri="{BB962C8B-B14F-4D97-AF65-F5344CB8AC3E}">
        <p14:creationId xmlns:p14="http://schemas.microsoft.com/office/powerpoint/2010/main" val="87460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35FFC-6984-774D-3BB0-2528332E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774"/>
            <a:ext cx="10515600" cy="1325563"/>
          </a:xfrm>
        </p:spPr>
        <p:txBody>
          <a:bodyPr/>
          <a:lstStyle/>
          <a:p>
            <a:r>
              <a:rPr lang="en-TR" dirty="0"/>
              <a:t>Karatsuba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2C8F3-4498-AFE2-C23E-58E6B121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065" y="1505337"/>
            <a:ext cx="2510481" cy="25919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S</a:t>
            </a:r>
            <a:r>
              <a:rPr lang="en-TR" dirty="0"/>
              <a:t>ignature of the function: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13AB5-A03B-F2B9-0301-7FFCE0C60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14" y="1764534"/>
            <a:ext cx="10085172" cy="259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5543E9-F9F8-39AC-64EF-19E065B19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14" y="4288536"/>
            <a:ext cx="6019800" cy="137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48E329-54E2-9E64-1DD6-F9C0C0FFFDEB}"/>
              </a:ext>
            </a:extLst>
          </p:cNvPr>
          <p:cNvSpPr txBox="1"/>
          <p:nvPr/>
        </p:nvSpPr>
        <p:spPr>
          <a:xfrm>
            <a:off x="951470" y="2149372"/>
            <a:ext cx="1138638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- *a ve *b çarpılacak polinomların 64 bitlik parçasının (word) adresini gösterir.</a:t>
            </a:r>
          </a:p>
          <a:p>
            <a:r>
              <a:rPr lang="en-TR" dirty="0"/>
              <a:t>- n ise A(x) ve B(x) polinomlarının kaç word’den oluştuğu bilgisini verir, bunun yardımıyla pointer aritmetik yapılarak</a:t>
            </a:r>
          </a:p>
          <a:p>
            <a:r>
              <a:rPr lang="en-US" dirty="0"/>
              <a:t>d</a:t>
            </a:r>
            <a:r>
              <a:rPr lang="en-TR" dirty="0"/>
              <a:t>iğer wordlere ulaşılır.</a:t>
            </a:r>
          </a:p>
          <a:p>
            <a:pPr marL="285750" indent="-285750">
              <a:buFontTx/>
              <a:buChar char="-"/>
            </a:pPr>
            <a:r>
              <a:rPr lang="en-TR" dirty="0"/>
              <a:t>*r (output)</a:t>
            </a:r>
          </a:p>
          <a:p>
            <a:pPr marL="285750" indent="-285750">
              <a:buFontTx/>
              <a:buChar char="-"/>
            </a:pPr>
            <a:r>
              <a:rPr lang="en-TR" dirty="0"/>
              <a:t>-tmp_buffer -&gt; ara işlemler için tutulan bir buffer</a:t>
            </a:r>
          </a:p>
          <a:p>
            <a:pPr marL="285750" indent="-285750">
              <a:buFontTx/>
              <a:buChar char="-"/>
            </a:pPr>
            <a:r>
              <a:rPr lang="en-US" dirty="0"/>
              <a:t>B</a:t>
            </a:r>
            <a:r>
              <a:rPr lang="en-TR" dirty="0"/>
              <a:t>u wordler 64 tane katsayı tutar </a:t>
            </a:r>
            <a:r>
              <a:rPr lang="en-TR" dirty="0">
                <a:sym typeface="Wingdings" pitchFamily="2" charset="2"/>
              </a:rPr>
              <a:t> (0-1)  array şeklinde tutulur.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46253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78D27-7787-9B33-6846-12EB0C45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Karatsuba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2CF02-81B6-4F81-4C50-F21761CB5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670222" cy="658083"/>
          </a:xfrm>
        </p:spPr>
        <p:txBody>
          <a:bodyPr/>
          <a:lstStyle/>
          <a:p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0C656-6075-6202-0DCF-653E34518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92" y="1627616"/>
            <a:ext cx="3314700" cy="1054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008108-32AA-EE21-C162-AA739DAFE5E3}"/>
              </a:ext>
            </a:extLst>
          </p:cNvPr>
          <p:cNvSpPr txBox="1"/>
          <p:nvPr/>
        </p:nvSpPr>
        <p:spPr>
          <a:xfrm>
            <a:off x="4633784" y="1816443"/>
            <a:ext cx="7702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- Karatsuba recursion kullanan bir fonksiyondur ve base case </a:t>
            </a:r>
          </a:p>
          <a:p>
            <a:r>
              <a:rPr lang="en-TR" dirty="0"/>
              <a:t>olarak bir threshold (16 for HQC-1) kullanır.</a:t>
            </a:r>
          </a:p>
          <a:p>
            <a:r>
              <a:rPr lang="en-TR" dirty="0"/>
              <a:t>-Eğer wordlerimizin sayısı bu thresholddan küçükse, verimlilik sağlanması </a:t>
            </a:r>
          </a:p>
          <a:p>
            <a:r>
              <a:rPr lang="en-US" dirty="0"/>
              <a:t>a</a:t>
            </a:r>
            <a:r>
              <a:rPr lang="en-TR" dirty="0"/>
              <a:t>dına karatsuba değil, schoolbook multiplicationa başvurulur.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F42E57-EE47-E91B-99EB-6B2CD2E0E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92" y="3649235"/>
            <a:ext cx="3314700" cy="1054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43EDF1-5CA3-A019-0744-D8A7966FD182}"/>
              </a:ext>
            </a:extLst>
          </p:cNvPr>
          <p:cNvSpPr txBox="1"/>
          <p:nvPr/>
        </p:nvSpPr>
        <p:spPr>
          <a:xfrm>
            <a:off x="4930346" y="3818238"/>
            <a:ext cx="5891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-n sizeımız ikiye bölünür ve lower/upper halflar oluşturulur.</a:t>
            </a:r>
          </a:p>
        </p:txBody>
      </p:sp>
    </p:spTree>
    <p:extLst>
      <p:ext uri="{BB962C8B-B14F-4D97-AF65-F5344CB8AC3E}">
        <p14:creationId xmlns:p14="http://schemas.microsoft.com/office/powerpoint/2010/main" val="3936602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09C2E-A4CD-9D8D-E494-8116FE0B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Karatsuba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5726E-4D8F-B373-4FE8-D1C2F95A5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2464" y="1825625"/>
            <a:ext cx="3371335" cy="261045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</a:t>
            </a:r>
            <a:r>
              <a:rPr lang="en-TR" dirty="0"/>
              <a:t>mp_bufferı 4 ana parçaya bölüyoruz:</a:t>
            </a:r>
          </a:p>
          <a:p>
            <a:r>
              <a:rPr lang="en-US" dirty="0"/>
              <a:t>N</a:t>
            </a:r>
            <a:r>
              <a:rPr lang="en-TR" dirty="0"/>
              <a:t>ot: n kelimelik iki polinomu çarptığımızda elde ettiğimiz çarpım 2n kelimelik olur.</a:t>
            </a:r>
          </a:p>
          <a:p>
            <a:r>
              <a:rPr lang="en-US" dirty="0"/>
              <a:t>t</a:t>
            </a:r>
            <a:r>
              <a:rPr lang="en-TR" dirty="0"/>
              <a:t>a ve tb low/high halfların toplamlarını tutar (n kelimelik memory)</a:t>
            </a:r>
          </a:p>
          <a:p>
            <a:r>
              <a:rPr lang="en-US" dirty="0"/>
              <a:t>T</a:t>
            </a:r>
            <a:r>
              <a:rPr lang="en-TR" dirty="0"/>
              <a:t>üm bu memorylere yer ayırdıktan sonra da child recursionlar için tmp_bufferdan 8n uzaklıkta bir adresi daha tutuyoruz.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D1FF2A-7FB9-80D2-9DDF-362AB5CEE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9977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0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D2128-43F2-54DA-F9B2-7C0281E1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Karatsuba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21B70-586E-1C57-397F-4BD170DD7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6658" y="1825625"/>
            <a:ext cx="5027141" cy="4351338"/>
          </a:xfrm>
        </p:spPr>
        <p:txBody>
          <a:bodyPr/>
          <a:lstStyle/>
          <a:p>
            <a:r>
              <a:rPr lang="en-TR" dirty="0"/>
              <a:t>Recursive olarak A0 * B0 ve A1*B1 çarpımları çağırılır.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72A98-B0A2-4BE1-0993-1A3375A7A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321300" cy="135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C73564-AE19-940A-01C9-CAFC86EEA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1294"/>
            <a:ext cx="5321300" cy="177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1F8613-60EC-4FB5-4534-EC5783686DDD}"/>
              </a:ext>
            </a:extLst>
          </p:cNvPr>
          <p:cNvSpPr txBox="1"/>
          <p:nvPr/>
        </p:nvSpPr>
        <p:spPr>
          <a:xfrm>
            <a:off x="6499654" y="4102443"/>
            <a:ext cx="42507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TR" dirty="0"/>
              <a:t>Middle multiplication çağrılmadan önceki hazırlık stepleri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R" dirty="0"/>
              <a:t>(a0 + a1) * (b0 + b1) (middle multiplication)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749967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FC8F-4492-98AE-038E-7F68DB0C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Karatsuba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F7FFB-A4AE-C1FE-D57A-B370D82D8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7934" y="1825625"/>
            <a:ext cx="4705865" cy="3982051"/>
          </a:xfrm>
        </p:spPr>
        <p:txBody>
          <a:bodyPr/>
          <a:lstStyle/>
          <a:p>
            <a:r>
              <a:rPr lang="en-TR" dirty="0"/>
              <a:t>Tüm çarpımların concatenated halinin outputa yerleştirilme aşaması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A3CAE-F773-A737-DAEB-9B1CC45F4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58" y="1740694"/>
            <a:ext cx="5867400" cy="226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F5EB9B-4A81-28A9-03F0-77A7F0264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95984"/>
            <a:ext cx="528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5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770530"/>
            <a:ext cx="687200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 dirty="0"/>
              <a:t>Step 1: Input Splitting (n=8 example)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866288"/>
              </p:ext>
            </p:extLst>
          </p:nvPr>
        </p:nvGraphicFramePr>
        <p:xfrm>
          <a:off x="2438400" y="2715548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 gridSpan="8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Array 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a₁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a₂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a₃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a₄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a₅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a₆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a₇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369098"/>
              </p:ext>
            </p:extLst>
          </p:nvPr>
        </p:nvGraphicFramePr>
        <p:xfrm>
          <a:off x="2438400" y="4502695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 gridSpan="8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Array 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b₁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b₂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b₃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b₄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b₅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b₆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b₇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61340" y="4156391"/>
            <a:ext cx="17558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472C4"/>
                </a:solidFill>
              </a:defRPr>
            </a:pPr>
            <a:r>
              <a:rPr sz="1200" dirty="0"/>
              <a:t>low(a) - indices 0 to m-1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2431" y="4134255"/>
            <a:ext cx="18070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D7D31"/>
                </a:solidFill>
              </a:defRPr>
            </a:pPr>
            <a:r>
              <a:rPr sz="1200" dirty="0"/>
              <a:t>high(a) - indices m to n-1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6052" y="5486400"/>
            <a:ext cx="2899896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sz="1600"/>
              <a:t>Split point: m = n &gt;&gt; 1 = 4</a:t>
            </a:r>
          </a:p>
          <a:p>
            <a:r>
              <a:t>n₀ = m = 4 (low half size)</a:t>
            </a:r>
          </a:p>
          <a:p>
            <a:r>
              <a:t>n₁ = n - m = 4 (high half size)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42DE75-D6C1-517B-ECD9-27B1A084D8F3}"/>
              </a:ext>
            </a:extLst>
          </p:cNvPr>
          <p:cNvSpPr txBox="1">
            <a:spLocks/>
          </p:cNvSpPr>
          <p:nvPr/>
        </p:nvSpPr>
        <p:spPr>
          <a:xfrm>
            <a:off x="838200" y="4639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R" dirty="0"/>
              <a:t>Visualization of Karatsuba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61973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2: Compute Three Products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1371600"/>
            <a:ext cx="2286000" cy="10972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z₀</a:t>
            </a:r>
          </a:p>
          <a:p>
            <a:r>
              <a:t>low(a) × low(b)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67600" y="1371600"/>
            <a:ext cx="2286000" cy="10972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z₂</a:t>
            </a:r>
          </a:p>
          <a:p>
            <a:r>
              <a:t>high(a) × high(b)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0" y="3200400"/>
            <a:ext cx="2286000" cy="109728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zmid</a:t>
            </a:r>
          </a:p>
          <a:p>
            <a:r>
              <a:t>(low⊕high)ₐ × (low⊕high)ᵦ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81400" y="2468880"/>
            <a:ext cx="1371600" cy="7315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239000" y="2468880"/>
            <a:ext cx="1371600" cy="7315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95601" y="4754881"/>
            <a:ext cx="3147015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sz="1600"/>
              <a:t>Middle term computation:</a:t>
            </a:r>
          </a:p>
          <a:p>
            <a:r>
              <a:t>ta[i] = a[i] ⊕ a[m+i]</a:t>
            </a:r>
          </a:p>
          <a:p>
            <a:r>
              <a:t>tb[i] = b[i] ⊕ b[m+i]</a:t>
            </a:r>
          </a:p>
          <a:p>
            <a:r>
              <a:t>zmid = ta × tb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6502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3: Memory Buffer Layout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371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zmid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child_buffer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2n words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2n words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2n words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n words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n words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Offset: 0n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Offset: 2n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Offset: 4n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Offset: 6n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Offset: 7n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Offset: 8n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81201" y="3474721"/>
            <a:ext cx="7439537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400"/>
              <a:t>Purpose of each buffer:</a:t>
            </a:r>
          </a:p>
          <a:p>
            <a:r>
              <a:t>• z₀: Stores result of low(a) × low(b)</a:t>
            </a:r>
          </a:p>
          <a:p>
            <a:r>
              <a:t>• z₂: Stores result of high(a) × high(b)</a:t>
            </a:r>
          </a:p>
          <a:p>
            <a:r>
              <a:t>• zmid: Stores result of (low⊕high)ₐ × (low⊕high)ᵦ</a:t>
            </a:r>
          </a:p>
          <a:p>
            <a:r>
              <a:t>• ta, tb: Temporary arrays for XOR sums</a:t>
            </a:r>
          </a:p>
          <a:p>
            <a:r>
              <a:t>• child_buffer: Workspace for recursive calls (recursion depth dependent)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76040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4: Computing XOR Sums (ta and tb)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956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a[i]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a[m+i]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ta[i] = a[i]⊕a[m+i]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a₄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a₀⊕a₄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XOR</a:t>
                      </a:r>
                    </a:p>
                  </a:txBody>
                  <a:tcPr>
                    <a:solidFill>
                      <a:srgbClr val="96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a₁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a₅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a₁⊕a₅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XOR</a:t>
                      </a:r>
                    </a:p>
                  </a:txBody>
                  <a:tcPr>
                    <a:solidFill>
                      <a:srgbClr val="96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a₂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a₆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a₂⊕a₆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XOR</a:t>
                      </a:r>
                    </a:p>
                  </a:txBody>
                  <a:tcPr>
                    <a:solidFill>
                      <a:srgbClr val="96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a₃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a₇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a₃⊕a₇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XOR</a:t>
                      </a:r>
                    </a:p>
                  </a:txBody>
                  <a:tcPr>
                    <a:solidFill>
                      <a:srgbClr val="96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159267" y="4572001"/>
            <a:ext cx="58734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sz="1400"/>
              <a:t>Same computation performed for tb using b array</a:t>
            </a:r>
          </a:p>
          <a:p>
            <a:r>
              <a:t>In GF(2): XOR is both addition and subtraction (no carries)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6173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5: Recursion Tree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600" y="1371600"/>
            <a:ext cx="1828800" cy="5486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n=8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8400" y="2468880"/>
            <a:ext cx="1371600" cy="4572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z₀ (n=4)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200" y="2468880"/>
            <a:ext cx="1371600" cy="4572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zmid (n=4)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0" y="2468880"/>
            <a:ext cx="1371600" cy="4572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z₂ (n=4)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24200" y="1920240"/>
            <a:ext cx="2514600" cy="54864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6000" y="1920240"/>
            <a:ext cx="0" cy="54864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53200" y="1920240"/>
            <a:ext cx="2514600" cy="54864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81200" y="3657600"/>
            <a:ext cx="731520" cy="365760"/>
          </a:xfrm>
          <a:prstGeom prst="rect">
            <a:avLst/>
          </a:prstGeom>
          <a:solidFill>
            <a:srgbClr val="9BC2E6"/>
          </a:solidFill>
          <a:ln>
            <a:solidFill>
              <a:srgbClr val="9BC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n=2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800" y="3657600"/>
            <a:ext cx="731520" cy="365760"/>
          </a:xfrm>
          <a:prstGeom prst="rect">
            <a:avLst/>
          </a:prstGeom>
          <a:solidFill>
            <a:srgbClr val="9BC2E6"/>
          </a:solidFill>
          <a:ln>
            <a:solidFill>
              <a:srgbClr val="9BC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n=2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0" y="3657600"/>
            <a:ext cx="731520" cy="365760"/>
          </a:xfrm>
          <a:prstGeom prst="rect">
            <a:avLst/>
          </a:prstGeom>
          <a:solidFill>
            <a:srgbClr val="9BC2E6"/>
          </a:solidFill>
          <a:ln>
            <a:solidFill>
              <a:srgbClr val="9BC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n=2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4600" y="3657600"/>
            <a:ext cx="731520" cy="365760"/>
          </a:xfrm>
          <a:prstGeom prst="rect">
            <a:avLst/>
          </a:prstGeom>
          <a:solidFill>
            <a:srgbClr val="9BC2E6"/>
          </a:solidFill>
          <a:ln>
            <a:solidFill>
              <a:srgbClr val="9BC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n=2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800" y="3657600"/>
            <a:ext cx="731520" cy="365760"/>
          </a:xfrm>
          <a:prstGeom prst="rect">
            <a:avLst/>
          </a:prstGeom>
          <a:solidFill>
            <a:srgbClr val="9BC2E6"/>
          </a:solidFill>
          <a:ln>
            <a:solidFill>
              <a:srgbClr val="9BC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n=2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6400" y="3657600"/>
            <a:ext cx="731520" cy="365760"/>
          </a:xfrm>
          <a:prstGeom prst="rect">
            <a:avLst/>
          </a:prstGeom>
          <a:solidFill>
            <a:srgbClr val="9BC2E6"/>
          </a:solidFill>
          <a:ln>
            <a:solidFill>
              <a:srgbClr val="9BC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n=2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8401" y="4754880"/>
            <a:ext cx="5082225" cy="1415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400"/>
              <a:t>Recursion Analysis:</a:t>
            </a:r>
          </a:p>
          <a:p>
            <a:r>
              <a:t>• Depth: log₂(n) levels</a:t>
            </a:r>
          </a:p>
          <a:p>
            <a:r>
              <a:t>• Each level: 3 subproblems (not 4!)</a:t>
            </a:r>
          </a:p>
          <a:p>
            <a:r>
              <a:t>• Leaf nodes: Use schoolbook when n ≤ threshold</a:t>
            </a:r>
          </a:p>
          <a:p>
            <a:r>
              <a:t>• Total work: O(n^1.585) vs O(n²) for schoolbook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68329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6a: Assembly - Add z₀ to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 gridSpan="16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gridSpan="8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438401" y="3200401"/>
            <a:ext cx="5145511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sz="1400"/>
              <a:t>for (size_t i = 0; i &lt; 2 * n0; i++)</a:t>
            </a:r>
          </a:p>
          <a:p>
            <a:r>
              <a:t>    r[i] ^= z0[i];</a:t>
            </a:r>
          </a:p>
          <a:p>
            <a:endParaRPr/>
          </a:p>
          <a:p>
            <a:r>
              <a:t>Adds low×low product to positions 0 through 2m-1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68473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6b: Assembly - Add z₂ to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 gridSpan="16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gridSpan="8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438400" y="3200401"/>
            <a:ext cx="5411290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sz="1400"/>
              <a:t>for (size_t i = 0; i &lt; 2 * n1; i++)</a:t>
            </a:r>
          </a:p>
          <a:p>
            <a:r>
              <a:t>    r[2 * m + i] ^= z2[i];</a:t>
            </a:r>
          </a:p>
          <a:p>
            <a:endParaRPr/>
          </a:p>
          <a:p>
            <a:r>
              <a:t>Adds high×high product to positions 2m through 2n-1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70232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6c: Assembly - Add Middle Term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 gridSpan="16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gridSpan="8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gridSpan="4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middle = zmid⊕z₀⊕z₂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81200" y="3474721"/>
            <a:ext cx="5047536" cy="25083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ourier New"/>
              </a:defRPr>
            </a:pPr>
            <a:r>
              <a:rPr sz="1300"/>
              <a:t>for (size_t i = 0; i &lt; 2 * n1; i++) {</a:t>
            </a:r>
          </a:p>
          <a:p>
            <a:r>
              <a:t>    uint64_t z0i = (i &lt; 2 * n0 ? z0[i] : 0);</a:t>
            </a:r>
          </a:p>
          <a:p>
            <a:r>
              <a:t>    uint64_t z2i = (i &lt; 2 * n1 ? z2[i] : 0);</a:t>
            </a:r>
          </a:p>
          <a:p>
            <a:r>
              <a:t>    uint64_t mid = zmid[i] ^ z0i ^ z2i;</a:t>
            </a:r>
          </a:p>
          <a:p>
            <a:r>
              <a:t>    r[m + i] ^= mid;</a:t>
            </a:r>
          </a:p>
          <a:p>
            <a:r>
              <a:t>}</a:t>
            </a:r>
          </a:p>
          <a:p>
            <a:endParaRPr/>
          </a:p>
          <a:p>
            <a:r>
              <a:t>The middle term extracts cross-terms: a₀b₁ + a₁b₀</a:t>
            </a:r>
          </a:p>
          <a:p>
            <a:r>
              <a:t>Added at offset m (positions m through m+2n1-1)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0968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7: Final Result Layout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 gridSpan="16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gridSpan="8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z₂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524270" y="4114801"/>
            <a:ext cx="5143459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sz="1400"/>
              <a:t>Final Result = z₀ ⊕ (middle &lt;&lt; m) ⊕ (z₂ &lt;&lt; 2m)</a:t>
            </a:r>
          </a:p>
          <a:p>
            <a:endParaRPr/>
          </a:p>
          <a:p>
            <a:r>
              <a:t>Where: middle = zmid ⊕ z₀ ⊕ z₂</a:t>
            </a:r>
          </a:p>
          <a:p>
            <a:endParaRPr/>
          </a:p>
          <a:p>
            <a:r>
              <a:t>All operations use XOR (⊕) because we're in GF(2)</a:t>
            </a:r>
          </a:p>
          <a:p>
            <a:r>
              <a:t>Shifts (&lt;&lt;) implemented as array index offsets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C8736-554F-3445-4192-C408885B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2BCF8-074E-DEBC-F968-4C739CECE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4285"/>
            <a:ext cx="10515599" cy="2867706"/>
          </a:xfrm>
        </p:spPr>
        <p:txBody>
          <a:bodyPr/>
          <a:lstStyle/>
          <a:p>
            <a:r>
              <a:rPr lang="en-TR" dirty="0"/>
              <a:t>Karatsuba çarpımı sonucu elde edilen 2n kelimelik sonucu,</a:t>
            </a:r>
          </a:p>
          <a:p>
            <a:r>
              <a:rPr lang="en-TR" dirty="0"/>
              <a:t>mod x^N – 1’de n kelimeye indirger.</a:t>
            </a:r>
          </a:p>
          <a:p>
            <a:endParaRPr lang="en-TR" dirty="0"/>
          </a:p>
          <a:p>
            <a:r>
              <a:rPr lang="en-TR" dirty="0"/>
              <a:t>Kısacası bit kaydırma ve XOR yapılarak reduction işlemi gerçekleştirilir.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BC705-3EAC-E8C6-5E97-3B18B019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71" y="1425802"/>
            <a:ext cx="74549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81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EEE9-38F9-87FF-2EE5-3A747B78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Vect_mul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8A1A92-6497-5422-588D-C7A283F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2537"/>
            <a:ext cx="74549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06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565439-E426-BE78-CF77-8515A9176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635" y="1801812"/>
            <a:ext cx="9220729" cy="325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44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029F-81CA-86FE-B24B-DF3A3FB3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Gf_mul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E58D5-49B9-240E-A687-F53AFC75E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00" y="1825625"/>
            <a:ext cx="5461000" cy="4351338"/>
          </a:xfrm>
        </p:spPr>
        <p:txBody>
          <a:bodyPr/>
          <a:lstStyle/>
          <a:p>
            <a:r>
              <a:rPr lang="en-TR" dirty="0"/>
              <a:t>Galois Field of 2^8de çalışır.</a:t>
            </a:r>
          </a:p>
          <a:p>
            <a:r>
              <a:rPr lang="en-TR" dirty="0"/>
              <a:t>Reed-Muller/Solomon encoding/decoding için gereken çarpımları yapmaya yarayan fonksiyondur. </a:t>
            </a:r>
          </a:p>
          <a:p>
            <a:r>
              <a:rPr lang="en-TR" dirty="0"/>
              <a:t>Input-output 16 bitlik integer olarak depolanır fakat inputlar sadece 8 biti kullanır.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51A634-93E8-4074-B94C-59332163E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94" y="1892300"/>
            <a:ext cx="50800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40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8001-CE61-DC58-E700-D81D00D2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TR" dirty="0"/>
              <a:t>f_carryless_mul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A36AE-21E9-8DEB-FE08-1004BC67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2324" y="1529063"/>
            <a:ext cx="5731476" cy="4351338"/>
          </a:xfrm>
        </p:spPr>
        <p:txBody>
          <a:bodyPr>
            <a:normAutofit fontScale="77500" lnSpcReduction="20000"/>
          </a:bodyPr>
          <a:lstStyle/>
          <a:p>
            <a:r>
              <a:rPr lang="tr-TR" dirty="0"/>
              <a:t>A ve B bitlerine polinom katsayısı olarak bakıyor, bu yüzden çarpımlar </a:t>
            </a:r>
            <a:r>
              <a:rPr lang="tr-TR" dirty="0" err="1"/>
              <a:t>shift</a:t>
            </a:r>
            <a:r>
              <a:rPr lang="tr-TR" dirty="0"/>
              <a:t> toplamalar XOR</a:t>
            </a:r>
          </a:p>
          <a:p>
            <a:r>
              <a:rPr lang="tr-TR" dirty="0"/>
              <a:t>Önden bir </a:t>
            </a:r>
            <a:r>
              <a:rPr lang="tr-TR" dirty="0" err="1"/>
              <a:t>arraye</a:t>
            </a:r>
            <a:r>
              <a:rPr lang="tr-TR" dirty="0"/>
              <a:t>(u) B*0, B*1(MSB temizlenmiş),B*2,B*3 kaydediliyor</a:t>
            </a:r>
          </a:p>
          <a:p>
            <a:r>
              <a:rPr lang="tr-TR" dirty="0"/>
              <a:t>A için son bitlerinden </a:t>
            </a:r>
            <a:r>
              <a:rPr lang="tr-TR" dirty="0" err="1"/>
              <a:t>başlıyarak</a:t>
            </a:r>
            <a:r>
              <a:rPr lang="tr-TR" dirty="0"/>
              <a:t> ikili ikili alıp önden hazırlanmış </a:t>
            </a:r>
            <a:r>
              <a:rPr lang="tr-TR" dirty="0" err="1"/>
              <a:t>array’in</a:t>
            </a:r>
            <a:r>
              <a:rPr lang="tr-TR" dirty="0"/>
              <a:t>(u[a &gt;&gt; i &amp; 3]) o elemanı i kadar kaydırılarak toplama ekleniyor. Bu işlem </a:t>
            </a:r>
            <a:r>
              <a:rPr lang="tr-TR" dirty="0" err="1"/>
              <a:t>constant</a:t>
            </a:r>
            <a:r>
              <a:rPr lang="tr-TR" dirty="0"/>
              <a:t> time olsun diye maske ile işliyor.</a:t>
            </a:r>
          </a:p>
          <a:p>
            <a:r>
              <a:rPr lang="tr-TR" dirty="0"/>
              <a:t>B’nin MSB’si de durumuna göre işleniyor</a:t>
            </a:r>
          </a:p>
          <a:p>
            <a:r>
              <a:rPr lang="tr-TR" dirty="0"/>
              <a:t>Çıktı 16 bit olarak yazılır.</a:t>
            </a:r>
          </a:p>
          <a:p>
            <a:r>
              <a:rPr lang="en-US" dirty="0" err="1"/>
              <a:t>gf_carryless_mul</a:t>
            </a:r>
            <a:r>
              <a:rPr lang="en-US" dirty="0"/>
              <a:t>(a=0x1B, b=0x59)</a:t>
            </a:r>
            <a:endParaRPr lang="tr-TR" dirty="0"/>
          </a:p>
          <a:p>
            <a:r>
              <a:rPr lang="en-US" dirty="0"/>
              <a:t> full 16-bit product (unreduced) = 0x07B3</a:t>
            </a:r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918B74-51CB-42EE-D756-7BB883A5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91" y="1295164"/>
            <a:ext cx="4274398" cy="541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11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BC17-FEFC-6943-7C91-4CC4277A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Gf_reduce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8C0BA-E984-E4B5-0EE9-79EC93577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7870" y="1825625"/>
            <a:ext cx="4915930" cy="4351338"/>
          </a:xfrm>
        </p:spPr>
        <p:txBody>
          <a:bodyPr>
            <a:normAutofit fontScale="92500" lnSpcReduction="20000"/>
          </a:bodyPr>
          <a:lstStyle/>
          <a:p>
            <a:r>
              <a:rPr lang="tr-TR" dirty="0" err="1"/>
              <a:t>Modülüs</a:t>
            </a:r>
            <a:r>
              <a:rPr lang="tr-TR" dirty="0"/>
              <a:t> polinomu p(x)=x8+x4+x3+x2+1</a:t>
            </a:r>
            <a:endParaRPr lang="en-US" dirty="0"/>
          </a:p>
          <a:p>
            <a:r>
              <a:rPr lang="en-US" dirty="0"/>
              <a:t>En </a:t>
            </a:r>
            <a:r>
              <a:rPr lang="en-US" dirty="0" err="1"/>
              <a:t>üst</a:t>
            </a:r>
            <a:r>
              <a:rPr lang="en-US" dirty="0"/>
              <a:t> bitten </a:t>
            </a:r>
            <a:r>
              <a:rPr lang="en-US" dirty="0" err="1"/>
              <a:t>başla</a:t>
            </a:r>
            <a:r>
              <a:rPr lang="tr-TR" dirty="0"/>
              <a:t>yarak</a:t>
            </a:r>
            <a:r>
              <a:rPr lang="en-US" dirty="0"/>
              <a:t>: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derece</a:t>
            </a:r>
            <a:r>
              <a:rPr lang="tr-TR" dirty="0"/>
              <a:t>si</a:t>
            </a:r>
            <a:r>
              <a:rPr lang="en-US" dirty="0"/>
              <a:t> ≥ n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bit 1 </a:t>
            </a:r>
            <a:r>
              <a:rPr lang="en-US" dirty="0" err="1"/>
              <a:t>ise</a:t>
            </a:r>
            <a:r>
              <a:rPr lang="en-US" dirty="0"/>
              <a:t>, P(x) o bite </a:t>
            </a:r>
            <a:r>
              <a:rPr lang="en-US" dirty="0" err="1"/>
              <a:t>hizalanacak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sola </a:t>
            </a:r>
            <a:r>
              <a:rPr lang="en-US" dirty="0" err="1"/>
              <a:t>kaydırılır</a:t>
            </a:r>
            <a:r>
              <a:rPr lang="en-US" dirty="0"/>
              <a:t>, </a:t>
            </a:r>
            <a:r>
              <a:rPr lang="en-US" dirty="0" err="1"/>
              <a:t>Sonuçla</a:t>
            </a:r>
            <a:r>
              <a:rPr lang="en-US" dirty="0"/>
              <a:t> </a:t>
            </a:r>
            <a:r>
              <a:rPr lang="en-US" dirty="0" err="1"/>
              <a:t>XOR’lanır</a:t>
            </a:r>
            <a:r>
              <a:rPr lang="en-US" dirty="0"/>
              <a:t> (o </a:t>
            </a:r>
            <a:r>
              <a:rPr lang="en-US" dirty="0" err="1"/>
              <a:t>üst</a:t>
            </a:r>
            <a:r>
              <a:rPr lang="en-US" dirty="0"/>
              <a:t> bit yok </a:t>
            </a:r>
            <a:r>
              <a:rPr lang="en-US" dirty="0" err="1"/>
              <a:t>edilir</a:t>
            </a:r>
            <a:r>
              <a:rPr lang="en-US" dirty="0"/>
              <a:t>). Bu, </a:t>
            </a:r>
            <a:r>
              <a:rPr lang="en-US" dirty="0" err="1"/>
              <a:t>derece</a:t>
            </a:r>
            <a:r>
              <a:rPr lang="en-US" dirty="0"/>
              <a:t> &lt; n </a:t>
            </a:r>
            <a:r>
              <a:rPr lang="en-US" dirty="0" err="1"/>
              <a:t>olana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tekrarlanır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gf_reduce</a:t>
            </a:r>
            <a:r>
              <a:rPr lang="tr-TR" dirty="0"/>
              <a:t>(x=0x07B3)</a:t>
            </a:r>
          </a:p>
          <a:p>
            <a:r>
              <a:rPr lang="tr-TR" dirty="0" err="1"/>
              <a:t>gf_reduce</a:t>
            </a:r>
            <a:r>
              <a:rPr lang="tr-TR" dirty="0"/>
              <a:t> </a:t>
            </a:r>
            <a:r>
              <a:rPr lang="tr-TR" dirty="0" err="1"/>
              <a:t>result</a:t>
            </a:r>
            <a:r>
              <a:rPr lang="tr-TR" dirty="0"/>
              <a:t> = 0x00E0</a:t>
            </a:r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AEAC5-166C-335D-DC8C-F91EFD787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49" y="1690688"/>
            <a:ext cx="4915930" cy="460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4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39FD-6226-DB31-FF1D-F0D73597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Reed_Solomon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E25FD-2911-9E84-3C11-9170D08A10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5448" y="1825625"/>
                <a:ext cx="5138351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tr-TR" dirty="0"/>
                  <a:t>16 byte girdisi var.</a:t>
                </a:r>
              </a:p>
              <a:p>
                <a:r>
                  <a:rPr lang="tr-TR" dirty="0"/>
                  <a:t>30 byte </a:t>
                </a:r>
                <a:r>
                  <a:rPr lang="tr-TR" dirty="0" err="1"/>
                  <a:t>shift</a:t>
                </a:r>
                <a:r>
                  <a:rPr lang="tr-TR" dirty="0"/>
                  <a:t> </a:t>
                </a:r>
                <a:r>
                  <a:rPr lang="tr-TR" dirty="0" err="1"/>
                  <a:t>parity</a:t>
                </a:r>
                <a:r>
                  <a:rPr lang="tr-TR" dirty="0"/>
                  <a:t> </a:t>
                </a:r>
                <a:r>
                  <a:rPr lang="tr-TR" dirty="0" err="1"/>
                  <a:t>register</a:t>
                </a:r>
                <a:r>
                  <a:rPr lang="tr-TR" dirty="0"/>
                  <a:t> var</a:t>
                </a:r>
              </a:p>
              <a:p>
                <a:r>
                  <a:rPr lang="tr-TR" dirty="0"/>
                  <a:t>Her turda (toplam 16 tur): </a:t>
                </a:r>
              </a:p>
              <a:p>
                <a:r>
                  <a:rPr lang="tr-TR" dirty="0"/>
                  <a:t>mesajın sondan gelen sembolü ile </a:t>
                </a:r>
                <a:r>
                  <a:rPr lang="tr-TR" dirty="0" err="1"/>
                  <a:t>register’ın</a:t>
                </a:r>
                <a:r>
                  <a:rPr lang="tr-TR" dirty="0"/>
                  <a:t> son byte’ı </a:t>
                </a:r>
                <a:r>
                  <a:rPr lang="tr-TR" dirty="0" err="1"/>
                  <a:t>XOR’lanıp</a:t>
                </a:r>
                <a:r>
                  <a:rPr lang="tr-TR" dirty="0"/>
                  <a:t> </a:t>
                </a:r>
                <a:r>
                  <a:rPr lang="tr-TR" dirty="0" err="1"/>
                  <a:t>feedback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tr-TR" dirty="0"/>
                  <a:t>bulunur. </a:t>
                </a:r>
                <a:r>
                  <a:rPr lang="tr-TR" dirty="0" err="1"/>
                  <a:t>Register</a:t>
                </a:r>
                <a:r>
                  <a:rPr lang="tr-TR" dirty="0"/>
                  <a:t> 1 byte kaydırılır (başına 0 eklenir). Sonra bir </a:t>
                </a:r>
                <a:r>
                  <a:rPr lang="tr-TR" dirty="0" err="1"/>
                  <a:t>gf_multip</a:t>
                </a:r>
                <a:r>
                  <a:rPr lang="tr-TR" dirty="0"/>
                  <a:t>, 1 byte ve 1 byte girdisi var.</a:t>
                </a:r>
              </a:p>
              <a:p>
                <a:r>
                  <a:rPr lang="tr-TR" dirty="0" err="1"/>
                  <a:t>Parity</a:t>
                </a:r>
                <a:r>
                  <a:rPr lang="tr-TR" dirty="0"/>
                  <a:t> ve </a:t>
                </a:r>
                <a:r>
                  <a:rPr lang="tr-TR" dirty="0" err="1"/>
                  <a:t>message</a:t>
                </a:r>
                <a:r>
                  <a:rPr lang="tr-TR" dirty="0"/>
                  <a:t> </a:t>
                </a:r>
                <a:r>
                  <a:rPr lang="tr-TR" dirty="0" err="1"/>
                  <a:t>concatlenir</a:t>
                </a:r>
                <a:endParaRPr lang="tr-TR" dirty="0"/>
              </a:p>
              <a:p>
                <a:r>
                  <a:rPr lang="tr-TR" dirty="0"/>
                  <a:t>RS </a:t>
                </a:r>
                <a:r>
                  <a:rPr lang="tr-TR" dirty="0" err="1"/>
                  <a:t>encode</a:t>
                </a:r>
                <a:r>
                  <a:rPr lang="tr-TR" dirty="0"/>
                  <a:t> maliyet (deterministik):</a:t>
                </a:r>
                <a:br>
                  <a:rPr lang="tr-TR" dirty="0"/>
                </a:br>
                <a:r>
                  <a:rPr lang="tr-TR" dirty="0"/>
                  <a:t>16 tur × (30) </a:t>
                </a:r>
                <a:r>
                  <a:rPr lang="tr-TR" dirty="0" err="1"/>
                  <a:t>gf_mul</a:t>
                </a:r>
                <a:r>
                  <a:rPr lang="tr-TR" dirty="0"/>
                  <a:t> ≈ 16×30 = 480 </a:t>
                </a:r>
                <a:r>
                  <a:rPr lang="tr-TR" dirty="0" err="1"/>
                  <a:t>gf_mul</a:t>
                </a:r>
                <a:r>
                  <a:rPr lang="tr-TR" dirty="0"/>
                  <a:t> + aynı ölçekte XOR.</a:t>
                </a:r>
              </a:p>
              <a:p>
                <a:endParaRPr lang="en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E25FD-2911-9E84-3C11-9170D08A10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5448" y="1825625"/>
                <a:ext cx="5138351" cy="4351338"/>
              </a:xfrm>
              <a:blipFill>
                <a:blip r:embed="rId2"/>
                <a:stretch>
                  <a:fillRect l="-1728" t="-3198" r="-123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C459D96-E259-D215-DEE4-DEAF95457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95" y="1595349"/>
            <a:ext cx="5776005" cy="481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17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A203-9F52-9976-47B9-A312D7EF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52" y="107314"/>
            <a:ext cx="10515600" cy="788227"/>
          </a:xfrm>
        </p:spPr>
        <p:txBody>
          <a:bodyPr/>
          <a:lstStyle/>
          <a:p>
            <a:r>
              <a:rPr lang="en-TR" dirty="0"/>
              <a:t>Reed_Solomon Encode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09018AE-5D56-62BF-F9E2-07DAC24F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61080"/>
              </p:ext>
            </p:extLst>
          </p:nvPr>
        </p:nvGraphicFramePr>
        <p:xfrm>
          <a:off x="676160" y="895541"/>
          <a:ext cx="2145868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868">
                  <a:extLst>
                    <a:ext uri="{9D8B030D-6E8A-4147-A177-3AD203B41FA5}">
                      <a16:colId xmlns:a16="http://schemas.microsoft.com/office/drawing/2014/main" val="2957607465"/>
                    </a:ext>
                  </a:extLst>
                </a:gridCol>
              </a:tblGrid>
              <a:tr h="30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TR" dirty="0"/>
                        <a:t>sg_bytes[15]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239074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sg_bytes[14]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782798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sg_bytes[13]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310925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sg_bytes[12]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31474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</a:t>
                      </a:r>
                      <a:r>
                        <a:rPr lang="en-TR" sz="180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[11]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9054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sg_bytes[10]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186108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688378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sg_bytes[8]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354669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189019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840987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88628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556693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962402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751719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997543"/>
                  </a:ext>
                </a:extLst>
              </a:tr>
              <a:tr h="306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sg_bytes[0]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6604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2ADBF0-C80B-0E15-38EF-FF009127B32C}"/>
                  </a:ext>
                </a:extLst>
              </p:cNvPr>
              <p:cNvSpPr txBox="1"/>
              <p:nvPr/>
            </p:nvSpPr>
            <p:spPr>
              <a:xfrm>
                <a:off x="4484825" y="1907493"/>
                <a:ext cx="2757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T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2ADBF0-C80B-0E15-38EF-FF009127B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4825" y="1907493"/>
                <a:ext cx="275717" cy="276999"/>
              </a:xfrm>
              <a:prstGeom prst="rect">
                <a:avLst/>
              </a:prstGeom>
              <a:blipFill>
                <a:blip r:embed="rId2"/>
                <a:stretch>
                  <a:fillRect l="-27273" r="-27273" b="-27273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9EC7E172-E006-1A0C-A874-5AC9D1118D4B}"/>
              </a:ext>
            </a:extLst>
          </p:cNvPr>
          <p:cNvSpPr/>
          <p:nvPr/>
        </p:nvSpPr>
        <p:spPr>
          <a:xfrm>
            <a:off x="3894962" y="895541"/>
            <a:ext cx="2145867" cy="5436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TR" dirty="0"/>
              <a:t>arity Register’ın son byte’ı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FE67A9-B4B7-0FB6-6044-26D049076D5A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4967896" y="1439239"/>
            <a:ext cx="0" cy="788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293BA15-9002-94F3-F266-C0A8E800DCDE}"/>
              </a:ext>
            </a:extLst>
          </p:cNvPr>
          <p:cNvSpPr/>
          <p:nvPr/>
        </p:nvSpPr>
        <p:spPr>
          <a:xfrm>
            <a:off x="3697885" y="2323201"/>
            <a:ext cx="2145867" cy="5436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Gate</a:t>
            </a:r>
            <a:r>
              <a:rPr lang="tr-TR" dirty="0"/>
              <a:t> </a:t>
            </a:r>
            <a:r>
              <a:rPr lang="tr-TR" dirty="0" err="1"/>
              <a:t>value</a:t>
            </a:r>
            <a:endParaRPr lang="en-TR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0BFB0D-A7B9-F540-4A4B-54D0AA9E980B}"/>
              </a:ext>
            </a:extLst>
          </p:cNvPr>
          <p:cNvCxnSpPr>
            <a:cxnSpLocks/>
          </p:cNvCxnSpPr>
          <p:nvPr/>
        </p:nvCxnSpPr>
        <p:spPr>
          <a:xfrm>
            <a:off x="2822028" y="1075038"/>
            <a:ext cx="1539907" cy="1186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0C940650-DF63-3681-8669-E7262A6DF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3407"/>
              </p:ext>
            </p:extLst>
          </p:nvPr>
        </p:nvGraphicFramePr>
        <p:xfrm>
          <a:off x="6320953" y="502920"/>
          <a:ext cx="2452814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407">
                  <a:extLst>
                    <a:ext uri="{9D8B030D-6E8A-4147-A177-3AD203B41FA5}">
                      <a16:colId xmlns:a16="http://schemas.microsoft.com/office/drawing/2014/main" val="3656271924"/>
                    </a:ext>
                  </a:extLst>
                </a:gridCol>
                <a:gridCol w="1226407">
                  <a:extLst>
                    <a:ext uri="{9D8B030D-6E8A-4147-A177-3AD203B41FA5}">
                      <a16:colId xmlns:a16="http://schemas.microsoft.com/office/drawing/2014/main" val="3747138671"/>
                    </a:ext>
                  </a:extLst>
                </a:gridCol>
              </a:tblGrid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008245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065896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07214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681348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65318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104803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878486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896418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41371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985610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71432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82524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578522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065171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74109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449261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9A49366-8B38-C281-D581-8C814ED49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265947"/>
              </p:ext>
            </p:extLst>
          </p:nvPr>
        </p:nvGraphicFramePr>
        <p:xfrm>
          <a:off x="9342677" y="501427"/>
          <a:ext cx="2452814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407">
                  <a:extLst>
                    <a:ext uri="{9D8B030D-6E8A-4147-A177-3AD203B41FA5}">
                      <a16:colId xmlns:a16="http://schemas.microsoft.com/office/drawing/2014/main" val="3656271924"/>
                    </a:ext>
                  </a:extLst>
                </a:gridCol>
                <a:gridCol w="1226407">
                  <a:extLst>
                    <a:ext uri="{9D8B030D-6E8A-4147-A177-3AD203B41FA5}">
                      <a16:colId xmlns:a16="http://schemas.microsoft.com/office/drawing/2014/main" val="3747138671"/>
                    </a:ext>
                  </a:extLst>
                </a:gridCol>
              </a:tblGrid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008245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065896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07214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681348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65318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104803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878486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896418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41371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985610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71432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82524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578522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065171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74109"/>
                  </a:ext>
                </a:extLst>
              </a:tr>
              <a:tr h="192596"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449261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A61F9CB0-10AA-0872-DD56-44B937C79DB9}"/>
              </a:ext>
            </a:extLst>
          </p:cNvPr>
          <p:cNvSpPr txBox="1"/>
          <p:nvPr/>
        </p:nvSpPr>
        <p:spPr>
          <a:xfrm>
            <a:off x="6598670" y="132095"/>
            <a:ext cx="1897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RS_POLY_COEFS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8CADCD-6315-E94D-6BAF-49B18D4F9660}"/>
              </a:ext>
            </a:extLst>
          </p:cNvPr>
          <p:cNvSpPr txBox="1"/>
          <p:nvPr/>
        </p:nvSpPr>
        <p:spPr>
          <a:xfrm>
            <a:off x="10275574" y="132095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tmp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77A4B94-36D5-7DB7-3918-30889B6C31C2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4770819" y="2866899"/>
            <a:ext cx="10227" cy="38808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4B94CD6-C860-ED95-C0C1-1CB0A2ACB60F}"/>
              </a:ext>
            </a:extLst>
          </p:cNvPr>
          <p:cNvCxnSpPr/>
          <p:nvPr/>
        </p:nvCxnSpPr>
        <p:spPr>
          <a:xfrm>
            <a:off x="4770818" y="6747701"/>
            <a:ext cx="51022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2D2E647-D351-913E-29F0-DF7EE0B5217B}"/>
              </a:ext>
            </a:extLst>
          </p:cNvPr>
          <p:cNvCxnSpPr>
            <a:cxnSpLocks/>
          </p:cNvCxnSpPr>
          <p:nvPr/>
        </p:nvCxnSpPr>
        <p:spPr>
          <a:xfrm>
            <a:off x="8044249" y="5968314"/>
            <a:ext cx="0" cy="605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8050DC3-E868-0BD0-405C-DE50C9E3BA84}"/>
              </a:ext>
            </a:extLst>
          </p:cNvPr>
          <p:cNvCxnSpPr/>
          <p:nvPr/>
        </p:nvCxnSpPr>
        <p:spPr>
          <a:xfrm>
            <a:off x="8044249" y="6561438"/>
            <a:ext cx="1828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2266E4E-CFB8-E4AD-9D66-63D48A78752D}"/>
                  </a:ext>
                </a:extLst>
              </p:cNvPr>
              <p:cNvSpPr txBox="1"/>
              <p:nvPr/>
            </p:nvSpPr>
            <p:spPr>
              <a:xfrm>
                <a:off x="9872030" y="6470701"/>
                <a:ext cx="2757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T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2266E4E-CFB8-E4AD-9D66-63D48A787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030" y="6470701"/>
                <a:ext cx="275717" cy="276999"/>
              </a:xfrm>
              <a:prstGeom prst="rect">
                <a:avLst/>
              </a:prstGeom>
              <a:blipFill>
                <a:blip r:embed="rId3"/>
                <a:stretch>
                  <a:fillRect l="-26087" r="-21739" b="-21739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D40DBA8-7DEF-4515-0E03-89D6796A244D}"/>
              </a:ext>
            </a:extLst>
          </p:cNvPr>
          <p:cNvCxnSpPr>
            <a:stCxn id="66" idx="3"/>
          </p:cNvCxnSpPr>
          <p:nvPr/>
        </p:nvCxnSpPr>
        <p:spPr>
          <a:xfrm flipV="1">
            <a:off x="10147747" y="6609200"/>
            <a:ext cx="86212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7569C4B-9615-BA45-8C13-A8B987490418}"/>
              </a:ext>
            </a:extLst>
          </p:cNvPr>
          <p:cNvCxnSpPr/>
          <p:nvPr/>
        </p:nvCxnSpPr>
        <p:spPr>
          <a:xfrm flipV="1">
            <a:off x="11009870" y="6178378"/>
            <a:ext cx="0" cy="430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7838830B-F05F-65F6-01F8-E10C5BED322D}"/>
              </a:ext>
            </a:extLst>
          </p:cNvPr>
          <p:cNvSpPr txBox="1"/>
          <p:nvPr/>
        </p:nvSpPr>
        <p:spPr>
          <a:xfrm>
            <a:off x="4821192" y="6416995"/>
            <a:ext cx="4391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index of RS_POLY_COEFS</a:t>
            </a:r>
            <a:endParaRPr lang="en-TR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27F0FA-DFE4-44FC-ED31-F18BB0A751F0}"/>
              </a:ext>
            </a:extLst>
          </p:cNvPr>
          <p:cNvSpPr txBox="1"/>
          <p:nvPr/>
        </p:nvSpPr>
        <p:spPr>
          <a:xfrm>
            <a:off x="2865733" y="5470427"/>
            <a:ext cx="117815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sz="1100" dirty="0"/>
              <a:t>*this is just the representation of the first round, we do this for every byte of the message</a:t>
            </a:r>
          </a:p>
        </p:txBody>
      </p:sp>
    </p:spTree>
    <p:extLst>
      <p:ext uri="{BB962C8B-B14F-4D97-AF65-F5344CB8AC3E}">
        <p14:creationId xmlns:p14="http://schemas.microsoft.com/office/powerpoint/2010/main" val="1264994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73BC8-3AE2-24C5-372B-12E91444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732" y="178257"/>
            <a:ext cx="10515600" cy="502780"/>
          </a:xfrm>
        </p:spPr>
        <p:txBody>
          <a:bodyPr>
            <a:normAutofit fontScale="90000"/>
          </a:bodyPr>
          <a:lstStyle/>
          <a:p>
            <a:r>
              <a:rPr lang="en-TR" dirty="0"/>
              <a:t>Reed_Solomon Encode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B5D0C3-8141-8502-34E2-E7122980F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461082"/>
              </p:ext>
            </p:extLst>
          </p:nvPr>
        </p:nvGraphicFramePr>
        <p:xfrm>
          <a:off x="123987" y="970840"/>
          <a:ext cx="118561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458">
                  <a:extLst>
                    <a:ext uri="{9D8B030D-6E8A-4147-A177-3AD203B41FA5}">
                      <a16:colId xmlns:a16="http://schemas.microsoft.com/office/drawing/2014/main" val="140486050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91082432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00032102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605685173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94997464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463939117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66034178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675318379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419821655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00757419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94310959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399679813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77547402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02297531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69114759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63535613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4061960563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26420121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51240474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86618729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100635561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80702483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7717645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87013589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7779229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646949262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910808115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129350817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713554799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789498525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058236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132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2B4A4B-F202-0D0E-4355-CF8DDBE98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882580"/>
              </p:ext>
            </p:extLst>
          </p:nvPr>
        </p:nvGraphicFramePr>
        <p:xfrm>
          <a:off x="123987" y="2080934"/>
          <a:ext cx="118561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458">
                  <a:extLst>
                    <a:ext uri="{9D8B030D-6E8A-4147-A177-3AD203B41FA5}">
                      <a16:colId xmlns:a16="http://schemas.microsoft.com/office/drawing/2014/main" val="140486050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91082432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00032102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605685173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94997464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463939117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66034178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675318379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419821655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00757419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94310959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399679813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77547402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02297531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69114759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63535613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4061960563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26420121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51240474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86618729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100635561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80702483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7717645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87013589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7779229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646949262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910808115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129350817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713554799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789498525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058236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132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B3D5B1C-0F5D-9634-EFEA-212381C5C72F}"/>
              </a:ext>
            </a:extLst>
          </p:cNvPr>
          <p:cNvSpPr txBox="1"/>
          <p:nvPr/>
        </p:nvSpPr>
        <p:spPr>
          <a:xfrm>
            <a:off x="0" y="1711602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TR" dirty="0"/>
              <a:t>mp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6202A-45D2-33A7-D330-40EAC375D39D}"/>
              </a:ext>
            </a:extLst>
          </p:cNvPr>
          <p:cNvSpPr txBox="1"/>
          <p:nvPr/>
        </p:nvSpPr>
        <p:spPr>
          <a:xfrm>
            <a:off x="0" y="601508"/>
            <a:ext cx="154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TR" dirty="0"/>
              <a:t>arity register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3FFDF9E-83CC-7809-3B01-39E509460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678044"/>
              </p:ext>
            </p:extLst>
          </p:nvPr>
        </p:nvGraphicFramePr>
        <p:xfrm>
          <a:off x="123987" y="3205638"/>
          <a:ext cx="118561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458">
                  <a:extLst>
                    <a:ext uri="{9D8B030D-6E8A-4147-A177-3AD203B41FA5}">
                      <a16:colId xmlns:a16="http://schemas.microsoft.com/office/drawing/2014/main" val="140486050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91082432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00032102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605685173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94997464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463939117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66034178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675318379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419821655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00757419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94310959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399679813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77547402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02297531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69114759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63535613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4061960563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264201210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51240474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866187294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100635561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80702483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7717645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870135896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77792298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2646949262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910808115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1129350817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713554799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789498525"/>
                    </a:ext>
                  </a:extLst>
                </a:gridCol>
                <a:gridCol w="382458">
                  <a:extLst>
                    <a:ext uri="{9D8B030D-6E8A-4147-A177-3AD203B41FA5}">
                      <a16:colId xmlns:a16="http://schemas.microsoft.com/office/drawing/2014/main" val="3058236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1321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DA9EE6-7A4B-6787-B855-420AAB3943EF}"/>
              </a:ext>
            </a:extLst>
          </p:cNvPr>
          <p:cNvSpPr txBox="1"/>
          <p:nvPr/>
        </p:nvSpPr>
        <p:spPr>
          <a:xfrm>
            <a:off x="-59238" y="3507247"/>
            <a:ext cx="20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TR" dirty="0"/>
              <a:t>ew parity register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AAAF39-EEFF-7103-B8D3-822794B53403}"/>
              </a:ext>
            </a:extLst>
          </p:cNvPr>
          <p:cNvCxnSpPr/>
          <p:nvPr/>
        </p:nvCxnSpPr>
        <p:spPr>
          <a:xfrm>
            <a:off x="11360258" y="1341680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29E92C-B12D-C7D1-5AE0-649F72ADBF83}"/>
              </a:ext>
            </a:extLst>
          </p:cNvPr>
          <p:cNvCxnSpPr/>
          <p:nvPr/>
        </p:nvCxnSpPr>
        <p:spPr>
          <a:xfrm>
            <a:off x="11794210" y="245177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123FB2-3570-BA3A-E03B-841AD2CF3125}"/>
              </a:ext>
            </a:extLst>
          </p:cNvPr>
          <p:cNvCxnSpPr/>
          <p:nvPr/>
        </p:nvCxnSpPr>
        <p:spPr>
          <a:xfrm>
            <a:off x="11016713" y="1339100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2ACA0B-3E09-F85F-7655-B5561705224C}"/>
              </a:ext>
            </a:extLst>
          </p:cNvPr>
          <p:cNvCxnSpPr/>
          <p:nvPr/>
        </p:nvCxnSpPr>
        <p:spPr>
          <a:xfrm>
            <a:off x="11360258" y="245177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5CD24C-D887-0EB4-DB13-F42544894FD1}"/>
              </a:ext>
            </a:extLst>
          </p:cNvPr>
          <p:cNvCxnSpPr/>
          <p:nvPr/>
        </p:nvCxnSpPr>
        <p:spPr>
          <a:xfrm>
            <a:off x="10625380" y="1339100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B642FB-0CCA-A864-B11B-4CDFB148FAAC}"/>
              </a:ext>
            </a:extLst>
          </p:cNvPr>
          <p:cNvCxnSpPr/>
          <p:nvPr/>
        </p:nvCxnSpPr>
        <p:spPr>
          <a:xfrm>
            <a:off x="10281835" y="1336520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3503E8-4763-06A0-090E-1C8C57CDD816}"/>
              </a:ext>
            </a:extLst>
          </p:cNvPr>
          <p:cNvCxnSpPr/>
          <p:nvPr/>
        </p:nvCxnSpPr>
        <p:spPr>
          <a:xfrm>
            <a:off x="9823989" y="1326775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CB53F7-21E8-2D51-C358-90D7264C0128}"/>
              </a:ext>
            </a:extLst>
          </p:cNvPr>
          <p:cNvCxnSpPr/>
          <p:nvPr/>
        </p:nvCxnSpPr>
        <p:spPr>
          <a:xfrm>
            <a:off x="9480444" y="1324195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30E6EA-E3AC-9009-7C44-5556D2D0256D}"/>
              </a:ext>
            </a:extLst>
          </p:cNvPr>
          <p:cNvCxnSpPr/>
          <p:nvPr/>
        </p:nvCxnSpPr>
        <p:spPr>
          <a:xfrm>
            <a:off x="9091050" y="1354005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40E8914-B92A-9E5A-F72A-2BB41B955AAD}"/>
              </a:ext>
            </a:extLst>
          </p:cNvPr>
          <p:cNvCxnSpPr/>
          <p:nvPr/>
        </p:nvCxnSpPr>
        <p:spPr>
          <a:xfrm>
            <a:off x="8747505" y="1351425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DE9D43-4FBA-BF9C-2D68-83FB3FF356C1}"/>
              </a:ext>
            </a:extLst>
          </p:cNvPr>
          <p:cNvCxnSpPr/>
          <p:nvPr/>
        </p:nvCxnSpPr>
        <p:spPr>
          <a:xfrm>
            <a:off x="8356172" y="1351425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1E5BB46-1AA6-4B65-F695-5F9BC6062D3D}"/>
              </a:ext>
            </a:extLst>
          </p:cNvPr>
          <p:cNvCxnSpPr/>
          <p:nvPr/>
        </p:nvCxnSpPr>
        <p:spPr>
          <a:xfrm>
            <a:off x="8012627" y="1348845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BF32268-F7FF-B313-6295-C02A588C5F41}"/>
              </a:ext>
            </a:extLst>
          </p:cNvPr>
          <p:cNvCxnSpPr/>
          <p:nvPr/>
        </p:nvCxnSpPr>
        <p:spPr>
          <a:xfrm>
            <a:off x="7554781" y="1339100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EF96458-A50B-445C-5DEB-541BB9288715}"/>
              </a:ext>
            </a:extLst>
          </p:cNvPr>
          <p:cNvCxnSpPr/>
          <p:nvPr/>
        </p:nvCxnSpPr>
        <p:spPr>
          <a:xfrm>
            <a:off x="7211236" y="1336520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1EA447-2B22-2A65-299E-F752BA61B636}"/>
              </a:ext>
            </a:extLst>
          </p:cNvPr>
          <p:cNvCxnSpPr/>
          <p:nvPr/>
        </p:nvCxnSpPr>
        <p:spPr>
          <a:xfrm>
            <a:off x="6846061" y="1338098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2ECBF7-ED33-2E11-E8DA-6EA3AED8C594}"/>
              </a:ext>
            </a:extLst>
          </p:cNvPr>
          <p:cNvCxnSpPr/>
          <p:nvPr/>
        </p:nvCxnSpPr>
        <p:spPr>
          <a:xfrm>
            <a:off x="6502516" y="1335518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6CD6695-5285-3C7B-AEFC-9218EEE95888}"/>
              </a:ext>
            </a:extLst>
          </p:cNvPr>
          <p:cNvCxnSpPr/>
          <p:nvPr/>
        </p:nvCxnSpPr>
        <p:spPr>
          <a:xfrm>
            <a:off x="6111183" y="1335518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2E9DF96-D7C6-CFBA-FAE2-C2361CB0DC4A}"/>
              </a:ext>
            </a:extLst>
          </p:cNvPr>
          <p:cNvCxnSpPr/>
          <p:nvPr/>
        </p:nvCxnSpPr>
        <p:spPr>
          <a:xfrm>
            <a:off x="5767638" y="1332938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807FE4-4526-1EA0-3298-E49DA3587F5E}"/>
              </a:ext>
            </a:extLst>
          </p:cNvPr>
          <p:cNvCxnSpPr/>
          <p:nvPr/>
        </p:nvCxnSpPr>
        <p:spPr>
          <a:xfrm>
            <a:off x="5309792" y="1323193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6008A8-4C03-B25F-F5B7-F372734E20EA}"/>
              </a:ext>
            </a:extLst>
          </p:cNvPr>
          <p:cNvCxnSpPr/>
          <p:nvPr/>
        </p:nvCxnSpPr>
        <p:spPr>
          <a:xfrm>
            <a:off x="4966247" y="1320613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4028B3-EC63-EBB4-ED56-0A5F4AB8FD08}"/>
              </a:ext>
            </a:extLst>
          </p:cNvPr>
          <p:cNvCxnSpPr/>
          <p:nvPr/>
        </p:nvCxnSpPr>
        <p:spPr>
          <a:xfrm>
            <a:off x="4576853" y="1350423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316D918-7B46-B802-7F7B-AEC92856AF49}"/>
              </a:ext>
            </a:extLst>
          </p:cNvPr>
          <p:cNvCxnSpPr/>
          <p:nvPr/>
        </p:nvCxnSpPr>
        <p:spPr>
          <a:xfrm>
            <a:off x="4233308" y="1347843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B0D8AD-741C-3BCF-F826-7BE598379069}"/>
              </a:ext>
            </a:extLst>
          </p:cNvPr>
          <p:cNvCxnSpPr/>
          <p:nvPr/>
        </p:nvCxnSpPr>
        <p:spPr>
          <a:xfrm>
            <a:off x="3841975" y="1347843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4A046CE-41B9-FC8F-0523-42DD057C9474}"/>
              </a:ext>
            </a:extLst>
          </p:cNvPr>
          <p:cNvCxnSpPr/>
          <p:nvPr/>
        </p:nvCxnSpPr>
        <p:spPr>
          <a:xfrm>
            <a:off x="3498430" y="1345263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1472F3-811D-C492-709D-169DCCFA0719}"/>
              </a:ext>
            </a:extLst>
          </p:cNvPr>
          <p:cNvCxnSpPr/>
          <p:nvPr/>
        </p:nvCxnSpPr>
        <p:spPr>
          <a:xfrm>
            <a:off x="3040584" y="1335518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CBD2D9B-85E8-BBAE-C709-994305DF64AC}"/>
              </a:ext>
            </a:extLst>
          </p:cNvPr>
          <p:cNvCxnSpPr/>
          <p:nvPr/>
        </p:nvCxnSpPr>
        <p:spPr>
          <a:xfrm>
            <a:off x="2697039" y="1332938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8CEC7F5-A141-2FD6-696F-705D070C9587}"/>
              </a:ext>
            </a:extLst>
          </p:cNvPr>
          <p:cNvCxnSpPr/>
          <p:nvPr/>
        </p:nvCxnSpPr>
        <p:spPr>
          <a:xfrm>
            <a:off x="2156869" y="1347342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7854C98-F504-FDF6-2922-DDC7F74FD1E4}"/>
              </a:ext>
            </a:extLst>
          </p:cNvPr>
          <p:cNvCxnSpPr/>
          <p:nvPr/>
        </p:nvCxnSpPr>
        <p:spPr>
          <a:xfrm>
            <a:off x="1813324" y="1344762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1FFA7D0-F04A-DA62-FDA5-4496F1671F32}"/>
              </a:ext>
            </a:extLst>
          </p:cNvPr>
          <p:cNvCxnSpPr/>
          <p:nvPr/>
        </p:nvCxnSpPr>
        <p:spPr>
          <a:xfrm>
            <a:off x="1421991" y="1344762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EB39066-D4F6-539A-72AF-AAAFB2EFB335}"/>
              </a:ext>
            </a:extLst>
          </p:cNvPr>
          <p:cNvCxnSpPr/>
          <p:nvPr/>
        </p:nvCxnSpPr>
        <p:spPr>
          <a:xfrm>
            <a:off x="1078446" y="1342182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3D5B674-21DF-E4E8-AABC-95BBCEE71C92}"/>
              </a:ext>
            </a:extLst>
          </p:cNvPr>
          <p:cNvCxnSpPr/>
          <p:nvPr/>
        </p:nvCxnSpPr>
        <p:spPr>
          <a:xfrm>
            <a:off x="620600" y="1332437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77F49C9-6894-5606-B803-99774C24956F}"/>
              </a:ext>
            </a:extLst>
          </p:cNvPr>
          <p:cNvCxnSpPr/>
          <p:nvPr/>
        </p:nvCxnSpPr>
        <p:spPr>
          <a:xfrm>
            <a:off x="277055" y="1329857"/>
            <a:ext cx="433952" cy="73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E68DB6D-49AF-8C4D-69B2-4B54722193FD}"/>
              </a:ext>
            </a:extLst>
          </p:cNvPr>
          <p:cNvCxnSpPr/>
          <p:nvPr/>
        </p:nvCxnSpPr>
        <p:spPr>
          <a:xfrm>
            <a:off x="11041251" y="248030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18586E7-BBEE-5FE3-58A6-10ECBC75A65E}"/>
              </a:ext>
            </a:extLst>
          </p:cNvPr>
          <p:cNvCxnSpPr/>
          <p:nvPr/>
        </p:nvCxnSpPr>
        <p:spPr>
          <a:xfrm>
            <a:off x="10607299" y="248030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5E87830-BC57-E088-A801-CC39666888CE}"/>
              </a:ext>
            </a:extLst>
          </p:cNvPr>
          <p:cNvCxnSpPr/>
          <p:nvPr/>
        </p:nvCxnSpPr>
        <p:spPr>
          <a:xfrm>
            <a:off x="10266338" y="245177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E28EA73-1AA4-59A9-2F66-A10FE4CA2B46}"/>
              </a:ext>
            </a:extLst>
          </p:cNvPr>
          <p:cNvCxnSpPr/>
          <p:nvPr/>
        </p:nvCxnSpPr>
        <p:spPr>
          <a:xfrm>
            <a:off x="9832386" y="245177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79CFA25-548D-6EFB-5AE7-3325BD0FAF88}"/>
              </a:ext>
            </a:extLst>
          </p:cNvPr>
          <p:cNvCxnSpPr/>
          <p:nvPr/>
        </p:nvCxnSpPr>
        <p:spPr>
          <a:xfrm>
            <a:off x="9513379" y="248030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371CABD-DB26-D312-1793-50FB958F626D}"/>
              </a:ext>
            </a:extLst>
          </p:cNvPr>
          <p:cNvCxnSpPr/>
          <p:nvPr/>
        </p:nvCxnSpPr>
        <p:spPr>
          <a:xfrm>
            <a:off x="9079427" y="248030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F7E5D0C-045B-705E-69E0-0A4AA216537B}"/>
              </a:ext>
            </a:extLst>
          </p:cNvPr>
          <p:cNvCxnSpPr/>
          <p:nvPr/>
        </p:nvCxnSpPr>
        <p:spPr>
          <a:xfrm>
            <a:off x="8790122" y="243084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49DFEB1-0617-1DA6-545D-1AAC462A45C8}"/>
              </a:ext>
            </a:extLst>
          </p:cNvPr>
          <p:cNvCxnSpPr/>
          <p:nvPr/>
        </p:nvCxnSpPr>
        <p:spPr>
          <a:xfrm>
            <a:off x="8356170" y="243084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BE5B46C-0A31-C3A7-C91D-EBDC086A8E94}"/>
              </a:ext>
            </a:extLst>
          </p:cNvPr>
          <p:cNvCxnSpPr/>
          <p:nvPr/>
        </p:nvCxnSpPr>
        <p:spPr>
          <a:xfrm>
            <a:off x="8037163" y="245937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2231D5D-C8F2-B56F-20FF-61879F7CB83F}"/>
              </a:ext>
            </a:extLst>
          </p:cNvPr>
          <p:cNvCxnSpPr/>
          <p:nvPr/>
        </p:nvCxnSpPr>
        <p:spPr>
          <a:xfrm>
            <a:off x="7603211" y="245937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DB739B0-A1D4-1822-B3DC-17280FE519EB}"/>
              </a:ext>
            </a:extLst>
          </p:cNvPr>
          <p:cNvCxnSpPr/>
          <p:nvPr/>
        </p:nvCxnSpPr>
        <p:spPr>
          <a:xfrm>
            <a:off x="7262250" y="243084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5FDD84B-C8E6-4B3E-16AF-843C3E96C08F}"/>
              </a:ext>
            </a:extLst>
          </p:cNvPr>
          <p:cNvCxnSpPr/>
          <p:nvPr/>
        </p:nvCxnSpPr>
        <p:spPr>
          <a:xfrm>
            <a:off x="6828298" y="243084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463094E-09F5-AB00-A69E-340D377A22CB}"/>
              </a:ext>
            </a:extLst>
          </p:cNvPr>
          <p:cNvCxnSpPr/>
          <p:nvPr/>
        </p:nvCxnSpPr>
        <p:spPr>
          <a:xfrm>
            <a:off x="6509291" y="245937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F81EA43-8E27-82A1-2F15-8BFCC2854531}"/>
              </a:ext>
            </a:extLst>
          </p:cNvPr>
          <p:cNvCxnSpPr/>
          <p:nvPr/>
        </p:nvCxnSpPr>
        <p:spPr>
          <a:xfrm>
            <a:off x="6075339" y="245937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FD82202-64A4-03C3-8F32-D6C1D82CBCCD}"/>
              </a:ext>
            </a:extLst>
          </p:cNvPr>
          <p:cNvCxnSpPr/>
          <p:nvPr/>
        </p:nvCxnSpPr>
        <p:spPr>
          <a:xfrm>
            <a:off x="5700793" y="241831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99A7805-67D7-2B61-B1DA-E615C94F5844}"/>
              </a:ext>
            </a:extLst>
          </p:cNvPr>
          <p:cNvCxnSpPr/>
          <p:nvPr/>
        </p:nvCxnSpPr>
        <p:spPr>
          <a:xfrm>
            <a:off x="5266841" y="241831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3430F0-3727-3E02-4A36-402A6E6389E7}"/>
              </a:ext>
            </a:extLst>
          </p:cNvPr>
          <p:cNvCxnSpPr/>
          <p:nvPr/>
        </p:nvCxnSpPr>
        <p:spPr>
          <a:xfrm>
            <a:off x="4947834" y="244684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3CC12BF-25BE-946F-191F-ED8A81CAB620}"/>
              </a:ext>
            </a:extLst>
          </p:cNvPr>
          <p:cNvCxnSpPr/>
          <p:nvPr/>
        </p:nvCxnSpPr>
        <p:spPr>
          <a:xfrm>
            <a:off x="4513882" y="244684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CE556D7-2829-5AAB-FA9D-C4AFB8801AE8}"/>
              </a:ext>
            </a:extLst>
          </p:cNvPr>
          <p:cNvCxnSpPr/>
          <p:nvPr/>
        </p:nvCxnSpPr>
        <p:spPr>
          <a:xfrm>
            <a:off x="4172921" y="241831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0B78307-25CA-58D1-37BB-7DD7EAF77D27}"/>
              </a:ext>
            </a:extLst>
          </p:cNvPr>
          <p:cNvCxnSpPr/>
          <p:nvPr/>
        </p:nvCxnSpPr>
        <p:spPr>
          <a:xfrm>
            <a:off x="3738969" y="241831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9212A6A-C184-A733-15F4-54FA879CECF1}"/>
              </a:ext>
            </a:extLst>
          </p:cNvPr>
          <p:cNvCxnSpPr/>
          <p:nvPr/>
        </p:nvCxnSpPr>
        <p:spPr>
          <a:xfrm>
            <a:off x="3419962" y="244684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5063E8E-2FA5-48AC-DA8D-D1DFBF56F801}"/>
              </a:ext>
            </a:extLst>
          </p:cNvPr>
          <p:cNvCxnSpPr/>
          <p:nvPr/>
        </p:nvCxnSpPr>
        <p:spPr>
          <a:xfrm>
            <a:off x="2986010" y="244684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6207736-47E0-C207-5FF6-816F1AFD4E3E}"/>
              </a:ext>
            </a:extLst>
          </p:cNvPr>
          <p:cNvCxnSpPr/>
          <p:nvPr/>
        </p:nvCxnSpPr>
        <p:spPr>
          <a:xfrm>
            <a:off x="2696705" y="239738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E796C47-222F-B55F-A02E-6142BAEEBB9F}"/>
              </a:ext>
            </a:extLst>
          </p:cNvPr>
          <p:cNvCxnSpPr/>
          <p:nvPr/>
        </p:nvCxnSpPr>
        <p:spPr>
          <a:xfrm>
            <a:off x="2262753" y="239738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E5AE8B4-6D73-EC40-E02A-D232353299F2}"/>
              </a:ext>
            </a:extLst>
          </p:cNvPr>
          <p:cNvCxnSpPr/>
          <p:nvPr/>
        </p:nvCxnSpPr>
        <p:spPr>
          <a:xfrm>
            <a:off x="1943746" y="242591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6996E5-81B0-DFC7-1670-53A10443D048}"/>
              </a:ext>
            </a:extLst>
          </p:cNvPr>
          <p:cNvCxnSpPr/>
          <p:nvPr/>
        </p:nvCxnSpPr>
        <p:spPr>
          <a:xfrm>
            <a:off x="1509794" y="242591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FA8F2A2-DC9F-08D9-615F-EFCB0A8CFF4A}"/>
              </a:ext>
            </a:extLst>
          </p:cNvPr>
          <p:cNvCxnSpPr/>
          <p:nvPr/>
        </p:nvCxnSpPr>
        <p:spPr>
          <a:xfrm>
            <a:off x="1168833" y="239738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959E556-4685-ABB6-F531-BDA95FC32D99}"/>
              </a:ext>
            </a:extLst>
          </p:cNvPr>
          <p:cNvCxnSpPr/>
          <p:nvPr/>
        </p:nvCxnSpPr>
        <p:spPr>
          <a:xfrm>
            <a:off x="734881" y="2397381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132D7A1-E331-B516-8831-95DAD1969ECA}"/>
              </a:ext>
            </a:extLst>
          </p:cNvPr>
          <p:cNvSpPr txBox="1"/>
          <p:nvPr/>
        </p:nvSpPr>
        <p:spPr>
          <a:xfrm>
            <a:off x="5452302" y="2649174"/>
            <a:ext cx="615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XOR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9F4109C-2F47-C7E2-E879-4D934E909FE9}"/>
              </a:ext>
            </a:extLst>
          </p:cNvPr>
          <p:cNvCxnSpPr/>
          <p:nvPr/>
        </p:nvCxnSpPr>
        <p:spPr>
          <a:xfrm>
            <a:off x="311929" y="2459374"/>
            <a:ext cx="0" cy="75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6B58B687-F15E-0CE1-1B59-33966BFDA3FB}"/>
              </a:ext>
            </a:extLst>
          </p:cNvPr>
          <p:cNvSpPr txBox="1"/>
          <p:nvPr/>
        </p:nvSpPr>
        <p:spPr>
          <a:xfrm>
            <a:off x="5342340" y="4490489"/>
            <a:ext cx="709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CDW</a:t>
            </a:r>
          </a:p>
        </p:txBody>
      </p: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D3925E55-59A6-5C6E-958D-4590A4483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840591"/>
              </p:ext>
            </p:extLst>
          </p:nvPr>
        </p:nvGraphicFramePr>
        <p:xfrm>
          <a:off x="1633213" y="511747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363571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61982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r>
                        <a:rPr lang="en-TR" dirty="0"/>
                        <a:t>arity register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261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490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4ABA-EEF0-1EDE-5C50-3000CDD17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Reed_muller_encode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73BBD-F718-BD12-99C4-4F4079AAD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2908" y="1690688"/>
            <a:ext cx="3840892" cy="4351338"/>
          </a:xfrm>
        </p:spPr>
        <p:txBody>
          <a:bodyPr/>
          <a:lstStyle/>
          <a:p>
            <a:r>
              <a:rPr lang="en-TR" dirty="0"/>
              <a:t>Reed-muller, reed-solomondan aldığı N1 sembollük (her sembol 8 bit) diziyi,</a:t>
            </a:r>
          </a:p>
          <a:p>
            <a:r>
              <a:rPr lang="en-TR" dirty="0"/>
              <a:t>N2 sembollük (her sembol/codeword 128 bit) bir diziye dönüştürür.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565BA-7444-3BC6-2C7D-4BD1B8645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75" y="1690688"/>
            <a:ext cx="6600568" cy="267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28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9189" y="182881"/>
            <a:ext cx="667362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Arial"/>
              </a:defRPr>
            </a:pPr>
            <a:r>
              <a:rPr sz="3200"/>
              <a:t>HQC: Reed-Muller Encoding Step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888837"/>
              </p:ext>
            </p:extLst>
          </p:nvPr>
        </p:nvGraphicFramePr>
        <p:xfrm>
          <a:off x="2438400" y="1371600"/>
          <a:ext cx="1371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Message (8-bit)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msg[0]: 0xA5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msg[1]: 0x3F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msg[2]: 0x12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msg[3]: 0xFF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msg[4]: 0x00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msg[5]: 0x8B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msg[6]: ...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msg[7]: ...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msg[8]: ...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msg[9]: End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68595" y="5486400"/>
            <a:ext cx="231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Input Array (N blocks)</a:t>
            </a:r>
          </a:p>
        </p:txBody>
      </p:sp>
      <p:sp>
        <p:nvSpPr>
          <p:cNvPr id="5" name="Document 4"/>
          <p:cNvSpPr/>
          <p:nvPr/>
        </p:nvSpPr>
        <p:spPr>
          <a:xfrm>
            <a:off x="4450080" y="3200400"/>
            <a:ext cx="1371600" cy="457200"/>
          </a:xfrm>
          <a:prstGeom prst="flowChartDocument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1" y="1828800"/>
            <a:ext cx="149412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400" b="1"/>
            </a:pPr>
            <a:r>
              <a:rPr sz="1400"/>
              <a:t>RM(1, 7) Logic</a:t>
            </a:r>
          </a:p>
          <a:p>
            <a:pPr algn="ctr">
              <a:defRPr sz="2000">
                <a:solidFill>
                  <a:srgbClr val="C80000"/>
                </a:solidFill>
              </a:defRPr>
            </a:pPr>
            <a:r>
              <a:rPr sz="2000"/>
              <a:t>c = m × G</a:t>
            </a:r>
          </a:p>
          <a:p>
            <a:pPr algn="ctr">
              <a:defRPr sz="1200"/>
            </a:pPr>
            <a:r>
              <a:rPr sz="1200"/>
              <a:t>Mapping:</a:t>
            </a:r>
            <a:br>
              <a:rPr sz="1200"/>
            </a:br>
            <a:r>
              <a:rPr sz="1200"/>
              <a:t>8 bits ➔ 128 bits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627338"/>
              </p:ext>
            </p:extLst>
          </p:nvPr>
        </p:nvGraphicFramePr>
        <p:xfrm>
          <a:off x="6553200" y="1371600"/>
          <a:ext cx="3657600" cy="4380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Word 0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Word 1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Word 3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dirty="0" err="1"/>
                        <a:t>xxxx</a:t>
                      </a:r>
                      <a:endParaRPr dirty="0"/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0xAF12..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0xAF12..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0xAF12..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0xAF12..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xxxx</a:t>
                      </a:r>
                    </a:p>
                  </a:txBody>
                  <a:tcPr>
                    <a:solidFill>
                      <a:srgbClr val="007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xxxx</a:t>
                      </a:r>
                      <a:endParaRPr dirty="0"/>
                    </a:p>
                  </a:txBody>
                  <a:tcPr>
                    <a:solidFill>
                      <a:srgbClr val="007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65839" y="1005840"/>
            <a:ext cx="4032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/>
            </a:pPr>
            <a:r>
              <a:rPr dirty="0"/>
              <a:t>Encoded Blocks (128 bits total width)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8286" y="5914816"/>
            <a:ext cx="74154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rPr sz="1200" dirty="0"/>
              <a:t>Example: Input msg[5] (0x8B) is multiplied by Generator Matrix G to produce 128-bit codeword stored in row 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6B91-0166-3634-2ABC-D5FD9D28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TR" dirty="0"/>
              <a:t>ncode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DD1C5-1DD2-4A55-6B1C-5E93ABCAA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372" y="1825625"/>
            <a:ext cx="5002427" cy="4351338"/>
          </a:xfrm>
        </p:spPr>
        <p:txBody>
          <a:bodyPr/>
          <a:lstStyle/>
          <a:p>
            <a:r>
              <a:rPr lang="en-TR" dirty="0"/>
              <a:t>8 bitlik mesajdan 128 bitlik RM codeword üretmeyi sağlayan fonksiyon.</a:t>
            </a:r>
          </a:p>
          <a:p>
            <a:r>
              <a:rPr lang="en-US" dirty="0"/>
              <a:t>c</a:t>
            </a:r>
            <a:r>
              <a:rPr lang="en-TR" dirty="0"/>
              <a:t> = mG (G-&gt; generator matrix)</a:t>
            </a:r>
          </a:p>
          <a:p>
            <a:r>
              <a:rPr lang="en-US" dirty="0"/>
              <a:t>M</a:t>
            </a:r>
            <a:r>
              <a:rPr lang="en-TR" dirty="0"/>
              <a:t>atrix çarpımı yapmak yerine, fonksiyon verimi sağlamak amacıyla logic operasyonları kullanıyor ve constant timeda sonuca ulaşıyor.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9386E-1189-9C89-6ADB-E82EF5F28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6184"/>
            <a:ext cx="5131475" cy="4570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EA9BD1-EF4C-7861-7DD7-33F221F4C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499" y="5746977"/>
            <a:ext cx="48133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28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95AD-3449-FFB6-F2C0-E4C6AA56C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3" y="212726"/>
            <a:ext cx="10515600" cy="329142"/>
          </a:xfrm>
        </p:spPr>
        <p:txBody>
          <a:bodyPr>
            <a:normAutofit fontScale="90000"/>
          </a:bodyPr>
          <a:lstStyle/>
          <a:p>
            <a:r>
              <a:rPr lang="en-TR" dirty="0"/>
              <a:t>Encode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80A10C-3E6A-F009-4B36-617371974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160177"/>
              </p:ext>
            </p:extLst>
          </p:nvPr>
        </p:nvGraphicFramePr>
        <p:xfrm>
          <a:off x="499533" y="846666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18603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134468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49291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520966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113929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5203589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2405128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68850135"/>
                    </a:ext>
                  </a:extLst>
                </a:gridCol>
              </a:tblGrid>
              <a:tr h="362373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b0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0929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45859E-362A-A55B-D5D6-F16DD9B49A02}"/>
              </a:ext>
            </a:extLst>
          </p:cNvPr>
          <p:cNvSpPr txBox="1"/>
          <p:nvPr/>
        </p:nvSpPr>
        <p:spPr>
          <a:xfrm>
            <a:off x="9042400" y="843094"/>
            <a:ext cx="241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TR" dirty="0"/>
              <a:t>essage block (8-bits)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BC53A0-1562-4CD0-61A3-21775A83F509}"/>
              </a:ext>
            </a:extLst>
          </p:cNvPr>
          <p:cNvSpPr txBox="1"/>
          <p:nvPr/>
        </p:nvSpPr>
        <p:spPr>
          <a:xfrm>
            <a:off x="499533" y="1212426"/>
            <a:ext cx="30011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Mb = BITOMASK (msg &gt;&gt; 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 </a:t>
            </a:r>
            <a:r>
              <a:rPr lang="en-TR" dirty="0"/>
              <a:t>= 1 </a:t>
            </a:r>
            <a:r>
              <a:rPr lang="en-TR" dirty="0">
                <a:sym typeface="Wingdings" pitchFamily="2" charset="2"/>
              </a:rPr>
              <a:t> Mb = 0xFFFFFFFF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B</a:t>
            </a:r>
            <a:r>
              <a:rPr lang="en-TR" dirty="0">
                <a:sym typeface="Wingdings" pitchFamily="2" charset="2"/>
              </a:rPr>
              <a:t> = 0  Mb = 0x00000000</a:t>
            </a:r>
            <a:endParaRPr lang="en-TR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8DA66A-FF33-1CF8-1FA1-4DF7AEE52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572611"/>
              </p:ext>
            </p:extLst>
          </p:nvPr>
        </p:nvGraphicFramePr>
        <p:xfrm>
          <a:off x="499533" y="3164224"/>
          <a:ext cx="4097865" cy="529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7865">
                  <a:extLst>
                    <a:ext uri="{9D8B030D-6E8A-4147-A177-3AD203B41FA5}">
                      <a16:colId xmlns:a16="http://schemas.microsoft.com/office/drawing/2014/main" val="3912122735"/>
                    </a:ext>
                  </a:extLst>
                </a:gridCol>
              </a:tblGrid>
              <a:tr h="529551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FIRST 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1604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A60FC0-0ABF-2D1C-5032-CBB5C24A2442}"/>
              </a:ext>
            </a:extLst>
          </p:cNvPr>
          <p:cNvSpPr txBox="1"/>
          <p:nvPr/>
        </p:nvSpPr>
        <p:spPr>
          <a:xfrm>
            <a:off x="1596895" y="2800065"/>
            <a:ext cx="183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TR" dirty="0"/>
              <a:t>irst word &lt;-- M7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05A0E1-4543-6C14-3E3A-D13557E8A3F7}"/>
              </a:ext>
            </a:extLst>
          </p:cNvPr>
          <p:cNvSpPr txBox="1"/>
          <p:nvPr/>
        </p:nvSpPr>
        <p:spPr>
          <a:xfrm>
            <a:off x="474132" y="3693775"/>
            <a:ext cx="46058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C0 = M0 AND 0xAAAAAAAA</a:t>
            </a:r>
          </a:p>
          <a:p>
            <a:r>
              <a:rPr lang="en-US" dirty="0"/>
              <a:t>C1 = M1 AND 0xCCCCCCCC</a:t>
            </a:r>
          </a:p>
          <a:p>
            <a:r>
              <a:rPr lang="en-US" dirty="0"/>
              <a:t>C2 = M2 AND 0xF0F0F0F0</a:t>
            </a:r>
          </a:p>
          <a:p>
            <a:r>
              <a:rPr lang="en-US" dirty="0"/>
              <a:t>C3 = M3 AND 0xFF00FF00</a:t>
            </a:r>
          </a:p>
          <a:p>
            <a:r>
              <a:rPr lang="en-US" dirty="0"/>
              <a:t>C4 = M4 AND 0xFFFF0000</a:t>
            </a:r>
            <a:endParaRPr lang="en-TR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076D0B-3445-DC68-A7C3-943F32010D66}"/>
              </a:ext>
            </a:extLst>
          </p:cNvPr>
          <p:cNvCxnSpPr/>
          <p:nvPr/>
        </p:nvCxnSpPr>
        <p:spPr>
          <a:xfrm flipH="1">
            <a:off x="262466" y="3863108"/>
            <a:ext cx="2370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02CE52-C678-E6B8-6C4C-CC473AD2FD3F}"/>
              </a:ext>
            </a:extLst>
          </p:cNvPr>
          <p:cNvCxnSpPr/>
          <p:nvPr/>
        </p:nvCxnSpPr>
        <p:spPr>
          <a:xfrm flipH="1">
            <a:off x="262466" y="4165356"/>
            <a:ext cx="2370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183E81-1383-D3BE-27B8-ED92179B1B1B}"/>
              </a:ext>
            </a:extLst>
          </p:cNvPr>
          <p:cNvCxnSpPr/>
          <p:nvPr/>
        </p:nvCxnSpPr>
        <p:spPr>
          <a:xfrm flipH="1">
            <a:off x="262466" y="4432439"/>
            <a:ext cx="2370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08B892-9203-68C5-4E9B-0596E421B5D1}"/>
              </a:ext>
            </a:extLst>
          </p:cNvPr>
          <p:cNvCxnSpPr/>
          <p:nvPr/>
        </p:nvCxnSpPr>
        <p:spPr>
          <a:xfrm flipH="1">
            <a:off x="274643" y="4691913"/>
            <a:ext cx="2370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449CD1-2BA0-F2AE-8A59-F32F77E4E073}"/>
              </a:ext>
            </a:extLst>
          </p:cNvPr>
          <p:cNvCxnSpPr/>
          <p:nvPr/>
        </p:nvCxnSpPr>
        <p:spPr>
          <a:xfrm flipH="1">
            <a:off x="274643" y="4992538"/>
            <a:ext cx="2370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7ACDC2-F698-9249-7D4C-B6309EF6BD2B}"/>
              </a:ext>
            </a:extLst>
          </p:cNvPr>
          <p:cNvCxnSpPr>
            <a:cxnSpLocks/>
          </p:cNvCxnSpPr>
          <p:nvPr/>
        </p:nvCxnSpPr>
        <p:spPr>
          <a:xfrm flipV="1">
            <a:off x="262466" y="3428999"/>
            <a:ext cx="0" cy="15635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ED09E0-5232-9472-6638-3C08F97D5C61}"/>
              </a:ext>
            </a:extLst>
          </p:cNvPr>
          <p:cNvCxnSpPr>
            <a:endCxn id="7" idx="1"/>
          </p:cNvCxnSpPr>
          <p:nvPr/>
        </p:nvCxnSpPr>
        <p:spPr>
          <a:xfrm>
            <a:off x="274643" y="3428999"/>
            <a:ext cx="224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FD6BD25-A142-C5D9-36D3-33BF2F87504E}"/>
                  </a:ext>
                </a:extLst>
              </p:cNvPr>
              <p:cNvSpPr txBox="1"/>
              <p:nvPr/>
            </p:nvSpPr>
            <p:spPr>
              <a:xfrm>
                <a:off x="262466" y="3145631"/>
                <a:ext cx="2757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T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FD6BD25-A142-C5D9-36D3-33BF2F875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6" y="3145631"/>
                <a:ext cx="275717" cy="276999"/>
              </a:xfrm>
              <a:prstGeom prst="rect">
                <a:avLst/>
              </a:prstGeom>
              <a:blipFill>
                <a:blip r:embed="rId2"/>
                <a:stretch>
                  <a:fillRect l="-26087" r="-21739" b="-21739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3096F83-AB04-FE22-0B18-6A2E87267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089228"/>
              </p:ext>
            </p:extLst>
          </p:nvPr>
        </p:nvGraphicFramePr>
        <p:xfrm>
          <a:off x="8100628" y="2200574"/>
          <a:ext cx="3052281" cy="381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2281">
                  <a:extLst>
                    <a:ext uri="{9D8B030D-6E8A-4147-A177-3AD203B41FA5}">
                      <a16:colId xmlns:a16="http://schemas.microsoft.com/office/drawing/2014/main" val="2115532148"/>
                    </a:ext>
                  </a:extLst>
                </a:gridCol>
              </a:tblGrid>
              <a:tr h="952690">
                <a:tc>
                  <a:txBody>
                    <a:bodyPr/>
                    <a:lstStyle/>
                    <a:p>
                      <a:pPr algn="ctr"/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WORD-&gt; U32[0]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72363"/>
                  </a:ext>
                </a:extLst>
              </a:tr>
              <a:tr h="952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WORD-&gt; U32[1]</a:t>
                      </a:r>
                    </a:p>
                    <a:p>
                      <a:pPr algn="ctr"/>
                      <a:endParaRPr lang="en-TR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195002"/>
                  </a:ext>
                </a:extLst>
              </a:tr>
              <a:tr h="952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WORD-&gt; U32[2]</a:t>
                      </a:r>
                    </a:p>
                    <a:p>
                      <a:pPr algn="ctr"/>
                      <a:endParaRPr lang="en-TR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842604"/>
                  </a:ext>
                </a:extLst>
              </a:tr>
              <a:tr h="952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>
                          <a:solidFill>
                            <a:schemeClr val="bg2"/>
                          </a:solidFill>
                        </a:rPr>
                        <a:t>WORD-&gt; U32[3]</a:t>
                      </a:r>
                    </a:p>
                    <a:p>
                      <a:pPr algn="ctr"/>
                      <a:endParaRPr lang="en-TR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07960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9A9EC57-CBED-6649-F79A-067845FCB8E6}"/>
              </a:ext>
            </a:extLst>
          </p:cNvPr>
          <p:cNvCxnSpPr/>
          <p:nvPr/>
        </p:nvCxnSpPr>
        <p:spPr>
          <a:xfrm flipV="1">
            <a:off x="4597398" y="2646218"/>
            <a:ext cx="3503230" cy="776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B03FFF-95BC-EB68-7260-079ACEBEF7A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597398" y="3428999"/>
            <a:ext cx="3503230" cy="264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5482899-5EE7-4DE1-F0BD-1D78A680ABED}"/>
              </a:ext>
            </a:extLst>
          </p:cNvPr>
          <p:cNvSpPr txBox="1"/>
          <p:nvPr/>
        </p:nvSpPr>
        <p:spPr>
          <a:xfrm rot="199575">
            <a:off x="5574679" y="3283316"/>
            <a:ext cx="2256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</a:t>
            </a:r>
            <a:r>
              <a:rPr lang="en-TR" dirty="0"/>
              <a:t>irst word &lt;-- M5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1EF950-960E-0DA7-CB7B-0EC5366E64FF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597398" y="3428999"/>
            <a:ext cx="3503230" cy="216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184D0C-A96B-4D27-5713-2135C8319556}"/>
              </a:ext>
            </a:extLst>
          </p:cNvPr>
          <p:cNvSpPr txBox="1"/>
          <p:nvPr/>
        </p:nvSpPr>
        <p:spPr>
          <a:xfrm>
            <a:off x="7657878" y="235474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(1)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52AD6F-EDBE-205F-5DA9-93762138F9B6}"/>
              </a:ext>
            </a:extLst>
          </p:cNvPr>
          <p:cNvSpPr txBox="1"/>
          <p:nvPr/>
        </p:nvSpPr>
        <p:spPr>
          <a:xfrm>
            <a:off x="7619007" y="334847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(2)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4B98CF-9986-66F2-5F49-0668B948444E}"/>
              </a:ext>
            </a:extLst>
          </p:cNvPr>
          <p:cNvSpPr txBox="1"/>
          <p:nvPr/>
        </p:nvSpPr>
        <p:spPr>
          <a:xfrm>
            <a:off x="7657878" y="508643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(3)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A8A066-D298-0D6D-4159-21EA85329571}"/>
              </a:ext>
            </a:extLst>
          </p:cNvPr>
          <p:cNvSpPr txBox="1"/>
          <p:nvPr/>
        </p:nvSpPr>
        <p:spPr>
          <a:xfrm rot="1833233">
            <a:off x="5449263" y="4469379"/>
            <a:ext cx="1839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TR" dirty="0"/>
              <a:t>irst word &lt;-- M6</a:t>
            </a:r>
          </a:p>
          <a:p>
            <a:endParaRPr lang="en-TR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055EFD-1DF7-FE4C-2C11-A797CB65C3F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597398" y="3428999"/>
            <a:ext cx="3464359" cy="1262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9D68FEA-C54D-E714-4C2D-21F82A474647}"/>
              </a:ext>
            </a:extLst>
          </p:cNvPr>
          <p:cNvSpPr txBox="1"/>
          <p:nvPr/>
        </p:nvSpPr>
        <p:spPr>
          <a:xfrm>
            <a:off x="7705984" y="428974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(4)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089143-526C-F4C9-994C-E82949A6ED14}"/>
              </a:ext>
            </a:extLst>
          </p:cNvPr>
          <p:cNvSpPr txBox="1"/>
          <p:nvPr/>
        </p:nvSpPr>
        <p:spPr>
          <a:xfrm rot="1287432">
            <a:off x="5686464" y="3837197"/>
            <a:ext cx="1839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TR" dirty="0"/>
              <a:t>irst word &lt;-- M5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694696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B66C-B3BE-3C37-6531-97AB1242F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Reed_muller_encode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56A5-1B14-C069-5FA0-1AF90D6E4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Encode fonksiyonu sonrasında 8 bitlik semboller 128 bitlik codewordlere dönüşür ve sonunda elimde N1 adet 128 bitlik codeword olur.</a:t>
            </a:r>
          </a:p>
          <a:p>
            <a:r>
              <a:rPr lang="en-TR" dirty="0"/>
              <a:t>Fakat Reed_muller çıktısının N1N2 byte olmasını amaçlar bu yüzden MULTIPLICITY-1 kere her bloğu hafızaya kopyalar.</a:t>
            </a:r>
          </a:p>
          <a:p>
            <a:r>
              <a:rPr lang="en-TR" dirty="0"/>
              <a:t>MULTIPLICITY = N2/128</a:t>
            </a:r>
          </a:p>
        </p:txBody>
      </p:sp>
    </p:spTree>
    <p:extLst>
      <p:ext uri="{BB962C8B-B14F-4D97-AF65-F5344CB8AC3E}">
        <p14:creationId xmlns:p14="http://schemas.microsoft.com/office/powerpoint/2010/main" val="1515343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0ACE-8074-F714-A6DC-E510A922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Reed_muller_decode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5EEE-25C7-C845-1A8D-477E77FCD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4032" y="1450889"/>
            <a:ext cx="4009768" cy="4351338"/>
          </a:xfrm>
        </p:spPr>
        <p:txBody>
          <a:bodyPr>
            <a:normAutofit fontScale="70000" lnSpcReduction="20000"/>
          </a:bodyPr>
          <a:lstStyle/>
          <a:p>
            <a:r>
              <a:rPr lang="en-TR" dirty="0"/>
              <a:t>Reed-solomon_encode ve sonrasında reed_muller_encode’a uğramış mesajı decode etme aşamasının ilki</a:t>
            </a:r>
          </a:p>
          <a:p>
            <a:r>
              <a:rPr lang="en-TR" dirty="0"/>
              <a:t>Tekrarların toplaması (expand_and_sum),</a:t>
            </a:r>
            <a:br>
              <a:rPr lang="en-TR" dirty="0"/>
            </a:br>
            <a:r>
              <a:rPr lang="en-TR" dirty="0"/>
              <a:t>Fast Hadamard Transform(hadamard) ve</a:t>
            </a:r>
            <a:br>
              <a:rPr lang="en-TR" dirty="0"/>
            </a:br>
            <a:r>
              <a:rPr lang="en-TR" dirty="0"/>
              <a:t>peaklerin bulunması (find_peak) olarak 3 bölümden oluşur.</a:t>
            </a:r>
          </a:p>
          <a:p>
            <a:r>
              <a:rPr lang="en-TR" dirty="0"/>
              <a:t>Input: cdw(codeword) </a:t>
            </a:r>
            <a:r>
              <a:rPr lang="en-TR" dirty="0">
                <a:sym typeface="Wingdings" pitchFamily="2" charset="2"/>
              </a:rPr>
              <a:t> </a:t>
            </a:r>
            <a:r>
              <a:rPr lang="en-TR" dirty="0"/>
              <a:t>N1N2 bit </a:t>
            </a:r>
          </a:p>
          <a:p>
            <a:r>
              <a:rPr lang="en-TR" dirty="0"/>
              <a:t>Output: msg(Reed_solomon_decode’a gidecek kısım) </a:t>
            </a:r>
            <a:r>
              <a:rPr lang="en-TR" dirty="0">
                <a:sym typeface="Wingdings" pitchFamily="2" charset="2"/>
              </a:rPr>
              <a:t></a:t>
            </a:r>
            <a:r>
              <a:rPr lang="en-TR" dirty="0"/>
              <a:t>N2 bit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C409F3-DFC7-B1B6-B10D-E3FA84E84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13" y="1466850"/>
            <a:ext cx="67056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80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60025-C09B-B288-C4E5-399BCD1B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TR" dirty="0"/>
              <a:t>xpand_and_sum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CD85E-FCB3-BE1E-41E9-6B58D2529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1714" y="1825625"/>
            <a:ext cx="453208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</a:t>
            </a:r>
            <a:r>
              <a:rPr lang="en-TR" dirty="0"/>
              <a:t>rc: Multiplicity kadar yan yana yazılmış codeword’ün başlangıç adresi</a:t>
            </a:r>
          </a:p>
          <a:p>
            <a:r>
              <a:rPr lang="en-TR" dirty="0"/>
              <a:t>İlk kopyanın aynısı en başta dest tamponuna yazdırılır (128 bitlik dizi 4 tane 32 bite bölünüp bu 32 bit teker teker işlenir)</a:t>
            </a:r>
            <a:r>
              <a:rPr lang="en-TR" dirty="0">
                <a:sym typeface="Wingdings" pitchFamily="2" charset="2"/>
              </a:rPr>
              <a:t> bunun sebebi kelime boyutuna uyum sağlayıp performansı artırmaktır.</a:t>
            </a:r>
          </a:p>
          <a:p>
            <a:r>
              <a:rPr lang="en-US" dirty="0">
                <a:sym typeface="Wingdings" pitchFamily="2" charset="2"/>
              </a:rPr>
              <a:t>S</a:t>
            </a:r>
            <a:r>
              <a:rPr lang="en-TR" dirty="0">
                <a:sym typeface="Wingdings" pitchFamily="2" charset="2"/>
              </a:rPr>
              <a:t>onrasında diğer kopyaların değerleri teker teker dest tamponuna eklenirbu bir reliability score oluşturur.</a:t>
            </a:r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7276E-7AC3-F59F-5F4C-DA0D5FEEA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69" y="2140631"/>
            <a:ext cx="5957351" cy="309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12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0" y="274321"/>
            <a:ext cx="60778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1: First Copy (Initialization)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1"/>
            <a:ext cx="8229600" cy="830997"/>
          </a:xfrm>
          <a:prstGeom prst="rect">
            <a:avLst/>
          </a:prstGeom>
          <a:solidFill>
            <a:srgbClr val="FFFAF0"/>
          </a:solidFill>
          <a:ln w="25400">
            <a:solidFill>
              <a:srgbClr val="FFC864"/>
            </a:solidFill>
          </a:ln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200"/>
              <a:t>for (part = 0; part &lt; 4; part++)</a:t>
            </a:r>
          </a:p>
          <a:p>
            <a:r>
              <a:t>    for (bit = 0; bit &lt; 32; bit++)</a:t>
            </a:r>
          </a:p>
          <a:p>
            <a:r>
              <a:t>        (*dest)[part * 32 + bit] = src[0].u32[part] &gt;&gt; bit &amp; 1;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37744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/>
            </a:pPr>
            <a:r>
              <a:rPr sz="1400"/>
              <a:t>Extracts each bit from src[0] and places it in dest array: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017521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rPr sz="1200"/>
              <a:t>src[0].u32[0]: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0" y="3017520"/>
            <a:ext cx="36576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b0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200" y="3017520"/>
            <a:ext cx="36576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b1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400" y="3017520"/>
            <a:ext cx="36576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b2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3017520"/>
            <a:ext cx="36576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b3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8800" y="3017520"/>
            <a:ext cx="36576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b4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0" y="3017520"/>
            <a:ext cx="36576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b5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3017520"/>
            <a:ext cx="36576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b6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0400" y="3017520"/>
            <a:ext cx="36576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b7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7600" y="3017521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/>
            </a:pPr>
            <a:r>
              <a:rPr sz="1000"/>
              <a:t>... (32 bits)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600" y="3566161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/>
            </a:pPr>
            <a:r>
              <a:rPr sz="2400"/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200" y="4114801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rPr sz="1200"/>
              <a:t>dest[0-31]: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0000" y="411480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411480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4400" y="411480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1600" y="411480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38800" y="411480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0" y="411480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11480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10400" y="411480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7600" y="4114801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/>
            </a:pPr>
            <a:r>
              <a:rPr sz="1000"/>
              <a:t>... (128 total)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200" y="4754881"/>
            <a:ext cx="82296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rPr sz="1300"/>
              <a:t>Result: Each bit from src[0] is extracted and placed in dest[0] through dest[127]</a:t>
            </a:r>
          </a:p>
          <a:p>
            <a:r>
              <a:t>(4 parts × 32 bits = 128 positions)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1" y="274321"/>
            <a:ext cx="67309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2: Summing Additional Copies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0"/>
            <a:ext cx="8229600" cy="1107996"/>
          </a:xfrm>
          <a:prstGeom prst="rect">
            <a:avLst/>
          </a:prstGeom>
          <a:solidFill>
            <a:srgbClr val="FFFAF0"/>
          </a:solidFill>
          <a:ln w="25400">
            <a:solidFill>
              <a:srgbClr val="FFC864"/>
            </a:solidFill>
          </a:ln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200"/>
              <a:t>for (copy = 1; copy &lt; MULTIPLICITY; copy++)</a:t>
            </a:r>
          </a:p>
          <a:p>
            <a:r>
              <a:t>    for (part = 0; part &lt; 4; part++)</a:t>
            </a:r>
          </a:p>
          <a:p>
            <a:r>
              <a:t>        for (bit = 0; bit &lt; 32; bit++)</a:t>
            </a:r>
          </a:p>
          <a:p>
            <a:r>
              <a:t>            (*dest)[part * 32 + bit] += src[copy].u32[part] &gt;&gt; bit &amp; 1;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65176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/>
            </a:pPr>
            <a:r>
              <a:rPr sz="1400"/>
              <a:t>Accumulation Process (for each additional copy):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5600" y="3291840"/>
            <a:ext cx="1097280" cy="73152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dest[i]</a:t>
            </a:r>
          </a:p>
          <a:p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5760" y="3383280"/>
            <a:ext cx="548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sz="2800"/>
              <a:t>+</a:t>
            </a:r>
          </a:p>
        </p:txBody>
      </p:sp>
      <p:sp>
        <p:nvSpPr>
          <p:cNvPr id="8" name="Rectangle 7"/>
          <p:cNvSpPr/>
          <p:nvPr/>
        </p:nvSpPr>
        <p:spPr>
          <a:xfrm>
            <a:off x="4907280" y="3291840"/>
            <a:ext cx="1097280" cy="73152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bit</a:t>
            </a:r>
          </a:p>
          <a:p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440" y="3383280"/>
            <a:ext cx="548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sz="2800"/>
              <a:t>=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18960" y="3291840"/>
            <a:ext cx="1097280" cy="731520"/>
          </a:xfrm>
          <a:prstGeom prst="rect">
            <a:avLst/>
          </a:prstGeom>
          <a:solidFill>
            <a:srgbClr val="D8BFD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dest[i]</a:t>
            </a:r>
          </a:p>
          <a:p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200" y="4297680"/>
            <a:ext cx="822960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rPr sz="1300"/>
              <a:t>Key Points:</a:t>
            </a:r>
          </a:p>
          <a:p>
            <a:r>
              <a:t>• Uses += operator to accumulate bit values</a:t>
            </a:r>
          </a:p>
          <a:p>
            <a:r>
              <a:t>• Processes all MULTIPLICITY copies</a:t>
            </a:r>
          </a:p>
          <a:p>
            <a:r>
              <a:t>• Each position in dest counts how many 1-bits appeared across all copies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0" y="274321"/>
            <a:ext cx="42630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Data Structure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/>
            </a:pPr>
            <a:r>
              <a:rPr sz="1400"/>
              <a:t>Source: Compressed Format (128 bits per codeword)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164592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/>
            </a:pPr>
            <a:r>
              <a:rPr sz="1100"/>
              <a:t>src[0]: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9920" y="16459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u32[0]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6459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u32[1]</a:t>
            </a:r>
          </a:p>
        </p:txBody>
      </p:sp>
      <p:sp>
        <p:nvSpPr>
          <p:cNvPr id="8" name="Rectangle 7"/>
          <p:cNvSpPr/>
          <p:nvPr/>
        </p:nvSpPr>
        <p:spPr>
          <a:xfrm>
            <a:off x="5364480" y="16459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u32[2]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1759" y="16459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200" y="210312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/>
            </a:pPr>
            <a:r>
              <a:rPr sz="1100"/>
              <a:t>src[1]: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9920" y="21031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u32[0]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200" y="21031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64480" y="21031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1759" y="21031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256032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/>
            </a:pPr>
            <a:r>
              <a:rPr sz="1100"/>
              <a:t>src[2]: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9920" y="25603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u32[0]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200" y="25603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4480" y="25603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1759" y="2560320"/>
            <a:ext cx="1005840" cy="365760"/>
          </a:xfrm>
          <a:prstGeom prst="rect">
            <a:avLst/>
          </a:prstGeom>
          <a:solidFill>
            <a:srgbClr val="ADD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u32[3]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1200" y="3108961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/>
            </a:pPr>
            <a:r>
              <a:rPr sz="1000"/>
              <a:t>... more copies 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1200" y="365760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/>
            </a:pPr>
            <a:r>
              <a:rPr sz="1400"/>
              <a:t>Destination: Expanded Format (128 positions)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1200" y="420624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/>
            </a:pPr>
            <a:r>
              <a:rPr sz="1100"/>
              <a:t>dest: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6992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140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288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436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1584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2732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3880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028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176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324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472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620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0768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1916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3064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42120" y="4206240"/>
            <a:ext cx="3657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69920" y="4663441"/>
            <a:ext cx="6400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/>
            </a:pPr>
            <a:r>
              <a:rPr sz="1000"/>
              <a:t>... continues to position 127 (each stores sum count)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1" y="274321"/>
            <a:ext cx="49477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Bit Extraction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1"/>
            <a:ext cx="8229600" cy="276999"/>
          </a:xfrm>
          <a:prstGeom prst="rect">
            <a:avLst/>
          </a:prstGeom>
          <a:solidFill>
            <a:srgbClr val="FFFAF0"/>
          </a:solidFill>
          <a:ln w="25400">
            <a:solidFill>
              <a:srgbClr val="FFC864"/>
            </a:solidFill>
          </a:ln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200"/>
              <a:t>src[copy].u32[part] &gt;&gt; bit &amp;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182880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/>
            </a:pPr>
            <a:r>
              <a:rPr sz="1400"/>
              <a:t>Example: Extract bit 5 from u32[part]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520" y="2468881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rPr sz="1200"/>
              <a:t>Original: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0" y="2468880"/>
            <a:ext cx="22860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...10110101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880" y="2468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rPr sz="1100"/>
              <a:t>Input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5520" y="3017521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rPr sz="1200"/>
              <a:t>&gt;&gt; 5: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0" y="3017520"/>
            <a:ext cx="22860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...00000101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880" y="301752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rPr sz="1100"/>
              <a:t>Right shift by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520" y="3566161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rPr sz="1200"/>
              <a:t>&amp; 1: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000" y="3566160"/>
            <a:ext cx="22860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...00000001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880" y="35661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rPr sz="1100"/>
              <a:t>Mask with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5520" y="4114801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rPr sz="1200"/>
              <a:t>Result: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0" y="4114800"/>
            <a:ext cx="228600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880" y="411480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rPr sz="1100"/>
              <a:t>Extracted bit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1200" y="5029201"/>
            <a:ext cx="82296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rPr sz="1300"/>
              <a:t>This technique efficiently extracts individual bits from packed 32-bit integers,</a:t>
            </a:r>
          </a:p>
          <a:p>
            <a:r>
              <a:t>allowing bit-by-bit processing of compressed data.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8E5E-FDB8-D4A6-58D7-A81B553F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Fast Hadamard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65917-2221-6BD4-C9C4-2CA41BC76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129" y="1635919"/>
            <a:ext cx="4162168" cy="4351338"/>
          </a:xfrm>
        </p:spPr>
        <p:txBody>
          <a:bodyPr>
            <a:normAutofit fontScale="85000" lnSpcReduction="20000"/>
          </a:bodyPr>
          <a:lstStyle/>
          <a:p>
            <a:r>
              <a:rPr lang="en-TR" dirty="0"/>
              <a:t>Expand_and_sum’dan çıkan reliability score, hadamard fonksiyonuna girer. </a:t>
            </a:r>
          </a:p>
          <a:p>
            <a:r>
              <a:rPr lang="en-TR" dirty="0"/>
              <a:t>Input: 128 bitlik bit dizisi</a:t>
            </a:r>
          </a:p>
          <a:p>
            <a:r>
              <a:rPr lang="en-TR" dirty="0"/>
              <a:t>Output: 128 bitlik bit dizisi</a:t>
            </a:r>
          </a:p>
          <a:p>
            <a:r>
              <a:rPr lang="en-TR" dirty="0"/>
              <a:t> 7 kere çalıştırılan bir döngü kullanılır </a:t>
            </a:r>
            <a:r>
              <a:rPr lang="en-TR" dirty="0">
                <a:sym typeface="Wingdings" pitchFamily="2" charset="2"/>
              </a:rPr>
              <a:t> 2^7 eleman</a:t>
            </a:r>
          </a:p>
          <a:p>
            <a:r>
              <a:rPr lang="en-US" dirty="0">
                <a:sym typeface="Wingdings" pitchFamily="2" charset="2"/>
              </a:rPr>
              <a:t>G</a:t>
            </a:r>
            <a:r>
              <a:rPr lang="en-TR" dirty="0">
                <a:sym typeface="Wingdings" pitchFamily="2" charset="2"/>
              </a:rPr>
              <a:t>irdinin her ardışık biti toplanarak çıktının ilk yarısı,</a:t>
            </a:r>
            <a:br>
              <a:rPr lang="en-TR" dirty="0">
                <a:sym typeface="Wingdings" pitchFamily="2" charset="2"/>
              </a:rPr>
            </a:br>
            <a:r>
              <a:rPr lang="en-TR" dirty="0">
                <a:sym typeface="Wingdings" pitchFamily="2" charset="2"/>
              </a:rPr>
              <a:t>her ardışık biti çıkartılarak çıktının son yarısı oluşturulur.</a:t>
            </a:r>
          </a:p>
          <a:p>
            <a:r>
              <a:rPr lang="en-TR" dirty="0">
                <a:sym typeface="Wingdings" pitchFamily="2" charset="2"/>
              </a:rPr>
              <a:t>Pointerlar kullanılarak verimlilik artırılır.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873A6-03D2-FF95-E007-9E17BEE35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21" y="1690688"/>
            <a:ext cx="61595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61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1" y="274321"/>
            <a:ext cx="383528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Algorithm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rPr sz="1600"/>
              <a:t>The Fast Hadamard Transform performs an in-place transformation using a butterfly pattern.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1737360"/>
            <a:ext cx="8229600" cy="261610"/>
          </a:xfrm>
          <a:prstGeom prst="rect">
            <a:avLst/>
          </a:prstGeom>
          <a:solidFill>
            <a:srgbClr val="FFFAF0"/>
          </a:solidFill>
          <a:ln w="25400">
            <a:solidFill>
              <a:srgbClr val="FFC864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sz="1100"/>
              <a:t>void hadamard(rm_expanded_cdw *src, rm_expanded_cdw *dst)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2560321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/>
              <a:t>Key Characteristics: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3017521"/>
            <a:ext cx="82296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rPr sz="1300"/>
              <a:t>• 7 passes of butterfly operations</a:t>
            </a:r>
          </a:p>
          <a:p>
            <a:r>
              <a:t>• Operates on 128 elements (64 pairs per pass)</a:t>
            </a:r>
          </a:p>
          <a:p>
            <a:r>
              <a:t>• Alternates between src and dst buffers</a:t>
            </a:r>
          </a:p>
          <a:p>
            <a:r>
              <a:t>• Uses pointer swapping to avoid extra copying</a:t>
            </a:r>
          </a:p>
          <a:p>
            <a:r>
              <a:t>• Each pass processes data with increasing stride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200" y="5029200"/>
            <a:ext cx="3657600" cy="731520"/>
          </a:xfrm>
          <a:prstGeom prst="rect">
            <a:avLst/>
          </a:prstGeom>
          <a:solidFill>
            <a:srgbClr val="C8FF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 dirty="0"/>
              <a:t>Input: </a:t>
            </a:r>
            <a:r>
              <a:rPr sz="1000" dirty="0" err="1"/>
              <a:t>src</a:t>
            </a:r>
            <a:endParaRPr sz="1000" dirty="0"/>
          </a:p>
          <a:p>
            <a:r>
              <a:rPr dirty="0">
                <a:solidFill>
                  <a:schemeClr val="tx1"/>
                </a:solidFill>
              </a:rPr>
              <a:t>128 elements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3200" y="5029200"/>
            <a:ext cx="3657600" cy="731520"/>
          </a:xfrm>
          <a:prstGeom prst="rect">
            <a:avLst/>
          </a:prstGeom>
          <a:solidFill>
            <a:srgbClr val="E6C8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 dirty="0"/>
              <a:t>Output: </a:t>
            </a:r>
            <a:r>
              <a:rPr sz="1000" dirty="0" err="1"/>
              <a:t>dst</a:t>
            </a:r>
            <a:endParaRPr sz="1000" dirty="0"/>
          </a:p>
          <a:p>
            <a:r>
              <a:rPr dirty="0">
                <a:solidFill>
                  <a:schemeClr val="tx1"/>
                </a:solidFill>
              </a:rPr>
              <a:t>128 transformed elements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0" y="274321"/>
            <a:ext cx="513012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Buffer Alternation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1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/>
              <a:t>Data Flow: Alternating between src and dst buffers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55520" y="2011680"/>
            <a:ext cx="914400" cy="548640"/>
          </a:xfrm>
          <a:prstGeom prst="rect">
            <a:avLst/>
          </a:prstGeom>
          <a:solidFill>
            <a:srgbClr val="C8FF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 dirty="0"/>
              <a:t>Pass 0</a:t>
            </a:r>
          </a:p>
          <a:p>
            <a:r>
              <a:rPr dirty="0" err="1">
                <a:solidFill>
                  <a:schemeClr val="tx1"/>
                </a:solidFill>
              </a:rPr>
              <a:t>src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169920" y="2286000"/>
            <a:ext cx="91440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61360" y="2011680"/>
            <a:ext cx="914400" cy="548640"/>
          </a:xfrm>
          <a:prstGeom prst="rect">
            <a:avLst/>
          </a:prstGeom>
          <a:solidFill>
            <a:srgbClr val="E6C8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 dirty="0"/>
              <a:t>Pass 1</a:t>
            </a:r>
          </a:p>
          <a:p>
            <a:r>
              <a:rPr dirty="0" err="1">
                <a:solidFill>
                  <a:schemeClr val="tx1"/>
                </a:solidFill>
              </a:rPr>
              <a:t>dst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175760" y="2286000"/>
            <a:ext cx="91440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267200" y="2011680"/>
            <a:ext cx="914400" cy="548640"/>
          </a:xfrm>
          <a:prstGeom prst="rect">
            <a:avLst/>
          </a:prstGeom>
          <a:solidFill>
            <a:srgbClr val="C8FF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 dirty="0"/>
              <a:t>Pass 2</a:t>
            </a:r>
          </a:p>
          <a:p>
            <a:r>
              <a:rPr dirty="0" err="1">
                <a:solidFill>
                  <a:schemeClr val="tx1"/>
                </a:solidFill>
              </a:rPr>
              <a:t>src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181601" y="2286000"/>
            <a:ext cx="91439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273040" y="2011680"/>
            <a:ext cx="914400" cy="548640"/>
          </a:xfrm>
          <a:prstGeom prst="rect">
            <a:avLst/>
          </a:prstGeom>
          <a:solidFill>
            <a:srgbClr val="E6C8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 dirty="0"/>
              <a:t>Pass 3</a:t>
            </a:r>
          </a:p>
          <a:p>
            <a:r>
              <a:rPr dirty="0" err="1">
                <a:solidFill>
                  <a:schemeClr val="tx1"/>
                </a:solidFill>
              </a:rPr>
              <a:t>dst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87440" y="2286000"/>
            <a:ext cx="91440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278880" y="2011680"/>
            <a:ext cx="914400" cy="548640"/>
          </a:xfrm>
          <a:prstGeom prst="rect">
            <a:avLst/>
          </a:prstGeom>
          <a:solidFill>
            <a:srgbClr val="C8FF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 dirty="0"/>
              <a:t>Pass 4</a:t>
            </a:r>
          </a:p>
          <a:p>
            <a:r>
              <a:rPr dirty="0" err="1">
                <a:solidFill>
                  <a:schemeClr val="tx1"/>
                </a:solidFill>
              </a:rPr>
              <a:t>src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193280" y="2286000"/>
            <a:ext cx="91440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284720" y="2011680"/>
            <a:ext cx="914400" cy="548640"/>
          </a:xfrm>
          <a:prstGeom prst="rect">
            <a:avLst/>
          </a:prstGeom>
          <a:solidFill>
            <a:srgbClr val="E6C8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 dirty="0"/>
              <a:t>Pass 5</a:t>
            </a:r>
          </a:p>
          <a:p>
            <a:r>
              <a:rPr dirty="0" err="1">
                <a:solidFill>
                  <a:schemeClr val="tx1"/>
                </a:solidFill>
              </a:rPr>
              <a:t>dst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199121" y="2286000"/>
            <a:ext cx="91439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90560" y="2011680"/>
            <a:ext cx="914400" cy="548640"/>
          </a:xfrm>
          <a:prstGeom prst="rect">
            <a:avLst/>
          </a:prstGeom>
          <a:solidFill>
            <a:srgbClr val="C8FF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 dirty="0"/>
              <a:t>Pass 6</a:t>
            </a:r>
          </a:p>
          <a:p>
            <a:r>
              <a:rPr dirty="0" err="1">
                <a:solidFill>
                  <a:schemeClr val="tx1"/>
                </a:solidFill>
              </a:rPr>
              <a:t>src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81200" y="292608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rPr sz="1400"/>
              <a:t>Pointer Swapping (end of each pass):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1200" y="3566160"/>
            <a:ext cx="8229600" cy="822960"/>
          </a:xfrm>
          <a:prstGeom prst="rect">
            <a:avLst/>
          </a:prstGeom>
          <a:solidFill>
            <a:srgbClr val="FFFAF0"/>
          </a:solidFill>
          <a:ln w="25400">
            <a:solidFill>
              <a:srgbClr val="FFC864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sz="1100"/>
              <a:t>rm_expanded_cdw *p3 = p1;  // Save p1</a:t>
            </a:r>
          </a:p>
          <a:p>
            <a:r>
              <a:t>p1 = p2;                     // p1 now points to dst</a:t>
            </a:r>
          </a:p>
          <a:p>
            <a:r>
              <a:t>p2 = p3;                     // p2 now points to old src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1200" y="4572000"/>
            <a:ext cx="822960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rPr sz="1300"/>
              <a:t>Result: </a:t>
            </a:r>
          </a:p>
          <a:p>
            <a:r>
              <a:t>• No data copying needed between passes</a:t>
            </a:r>
          </a:p>
          <a:p>
            <a:r>
              <a:t>• Buffers swap roles automatically</a:t>
            </a:r>
          </a:p>
          <a:p>
            <a:r>
              <a:t>• Read from p1, write to p2 in each pass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1" y="274321"/>
            <a:ext cx="45133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The Butterfly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1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/>
              <a:t>Core transformation applied to each pair of elements: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1645921"/>
            <a:ext cx="8229600" cy="538609"/>
          </a:xfrm>
          <a:prstGeom prst="rect">
            <a:avLst/>
          </a:prstGeom>
          <a:solidFill>
            <a:srgbClr val="FFFAF0"/>
          </a:solidFill>
          <a:ln w="25400">
            <a:solidFill>
              <a:srgbClr val="FFC864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sz="1100"/>
              <a:t>(*p2)[i]      = (*p1)[2*i] + (*p1)[2*i+1]</a:t>
            </a:r>
          </a:p>
          <a:p>
            <a:r>
              <a:t>(*p2)[i + 64] = (*p1)[2*i] - (*p1)[2*i+1]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256032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rPr sz="1400"/>
              <a:t>Visual Example: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0" y="3200400"/>
            <a:ext cx="731520" cy="457200"/>
          </a:xfrm>
          <a:prstGeom prst="rect">
            <a:avLst/>
          </a:prstGeom>
          <a:solidFill>
            <a:srgbClr val="ADD8E6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rPr sz="1400"/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0" y="4114800"/>
            <a:ext cx="731520" cy="457200"/>
          </a:xfrm>
          <a:prstGeom prst="rect">
            <a:avLst/>
          </a:prstGeom>
          <a:solidFill>
            <a:srgbClr val="ADD8E6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rPr sz="140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3120" y="320040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sz="2000"/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3120" y="411480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sz="2000"/>
              <a:t>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0" y="3200400"/>
            <a:ext cx="731520" cy="457200"/>
          </a:xfrm>
          <a:prstGeom prst="rect">
            <a:avLst/>
          </a:prstGeom>
          <a:solidFill>
            <a:srgbClr val="90EE9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200"/>
              <a:t>a+b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0" y="4114800"/>
            <a:ext cx="731520" cy="457200"/>
          </a:xfrm>
          <a:prstGeom prst="rect">
            <a:avLst/>
          </a:prstGeom>
          <a:solidFill>
            <a:srgbClr val="90EE9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200"/>
              <a:t>a−b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541520" y="3383280"/>
            <a:ext cx="1280160" cy="4572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541520" y="4297680"/>
            <a:ext cx="1280160" cy="4572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70320" y="3383280"/>
            <a:ext cx="2011680" cy="4572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70320" y="4297680"/>
            <a:ext cx="2011680" cy="4572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41520" y="3429000"/>
            <a:ext cx="1280160" cy="868680"/>
          </a:xfrm>
          <a:prstGeom prst="bentConnector3">
            <a:avLst/>
          </a:prstGeom>
          <a:ln w="25400">
            <a:solidFill>
              <a:srgbClr val="C8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541520" y="3383280"/>
            <a:ext cx="1280160" cy="960120"/>
          </a:xfrm>
          <a:prstGeom prst="bentConnector3">
            <a:avLst/>
          </a:prstGeom>
          <a:ln w="25400">
            <a:solidFill>
              <a:srgbClr val="C8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81200" y="4846320"/>
            <a:ext cx="822960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rPr sz="1300"/>
              <a:t>This "butterfly" pattern:</a:t>
            </a:r>
          </a:p>
          <a:p>
            <a:r>
              <a:t>• Combines pairs of elements with addition and subtraction</a:t>
            </a:r>
          </a:p>
          <a:p>
            <a:r>
              <a:t>• Produces two outputs for every two inputs</a:t>
            </a:r>
          </a:p>
          <a:p>
            <a:r>
              <a:t>• Named after the crossed-arrow diagram shape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0" y="274321"/>
            <a:ext cx="66489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Pass Structure &amp; Index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984348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dirty="0"/>
              <a:t>Each pass processes 64 pairs with specific index patterns: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108" y="1263974"/>
            <a:ext cx="7396264" cy="1923604"/>
          </a:xfrm>
          <a:prstGeom prst="rect">
            <a:avLst/>
          </a:prstGeom>
          <a:solidFill>
            <a:srgbClr val="FFFAF0"/>
          </a:solidFill>
          <a:ln w="25400">
            <a:solidFill>
              <a:srgbClr val="FFC864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sz="1100" dirty="0"/>
              <a:t>for (int32_t pass = 0; pass &lt; 7; pass++) {</a:t>
            </a:r>
          </a:p>
          <a:p>
            <a:r>
              <a:rPr dirty="0"/>
              <a:t>    for (int32_t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64;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r>
              <a:rPr dirty="0"/>
              <a:t>        (*p2)[</a:t>
            </a:r>
            <a:r>
              <a:rPr dirty="0" err="1"/>
              <a:t>i</a:t>
            </a:r>
            <a:r>
              <a:rPr dirty="0"/>
              <a:t>]      = (*p1)[2*</a:t>
            </a:r>
            <a:r>
              <a:rPr dirty="0" err="1"/>
              <a:t>i</a:t>
            </a:r>
            <a:r>
              <a:rPr dirty="0"/>
              <a:t>] + (*p1)[2*i+1];</a:t>
            </a:r>
          </a:p>
          <a:p>
            <a:r>
              <a:rPr dirty="0"/>
              <a:t>        (*p2)[</a:t>
            </a:r>
            <a:r>
              <a:rPr dirty="0" err="1"/>
              <a:t>i</a:t>
            </a:r>
            <a:r>
              <a:rPr dirty="0"/>
              <a:t> + 64] = (*p1)[2*</a:t>
            </a:r>
            <a:r>
              <a:rPr dirty="0" err="1"/>
              <a:t>i</a:t>
            </a:r>
            <a:r>
              <a:rPr dirty="0"/>
              <a:t>] - (*p1)[2*i+1];</a:t>
            </a:r>
          </a:p>
          <a:p>
            <a:r>
              <a:rPr dirty="0"/>
              <a:t>    }</a:t>
            </a:r>
          </a:p>
          <a:p>
            <a:r>
              <a:rPr lang="tr-TR" dirty="0"/>
              <a:t>    // swap </a:t>
            </a:r>
            <a:r>
              <a:rPr lang="tr-TR" dirty="0" err="1"/>
              <a:t>pointers</a:t>
            </a:r>
            <a:endParaRPr lang="tr-TR" dirty="0"/>
          </a:p>
          <a:p>
            <a:r>
              <a:rPr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0307" y="231499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rPr sz="1400" dirty="0"/>
              <a:t>Index Patterns by Pass: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200" y="3291840"/>
            <a:ext cx="1371600" cy="36576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sz="1100"/>
              <a:t>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4240" y="3291840"/>
            <a:ext cx="2286000" cy="36576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sz="1100"/>
              <a:t>Read Indices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1680" y="3291840"/>
            <a:ext cx="2286000" cy="36576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sz="1100"/>
              <a:t>Write Indices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9120" y="3291840"/>
            <a:ext cx="2011680" cy="36576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sz="1100"/>
              <a:t>Stride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200" y="3657600"/>
            <a:ext cx="1371600" cy="36576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4240" y="3657600"/>
            <a:ext cx="2286000" cy="365760"/>
          </a:xfrm>
          <a:prstGeom prst="rect">
            <a:avLst/>
          </a:prstGeom>
          <a:solidFill>
            <a:srgbClr val="FFFF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[0,1], [2,3], [4,5]...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1680" y="3657600"/>
            <a:ext cx="2286000" cy="365760"/>
          </a:xfrm>
          <a:prstGeom prst="rect">
            <a:avLst/>
          </a:prstGeom>
          <a:solidFill>
            <a:srgbClr val="E6FF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[0-63], [64-127]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9120" y="3657600"/>
            <a:ext cx="2011680" cy="365760"/>
          </a:xfrm>
          <a:prstGeom prst="rect">
            <a:avLst/>
          </a:prstGeom>
          <a:solidFill>
            <a:srgbClr val="FFF0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1200" y="4023360"/>
            <a:ext cx="1371600" cy="36576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4240" y="4023360"/>
            <a:ext cx="2286000" cy="365760"/>
          </a:xfrm>
          <a:prstGeom prst="rect">
            <a:avLst/>
          </a:prstGeom>
          <a:solidFill>
            <a:srgbClr val="FFFF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[0,2], [4,6], [8,10]...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21680" y="4023360"/>
            <a:ext cx="2286000" cy="365760"/>
          </a:xfrm>
          <a:prstGeom prst="rect">
            <a:avLst/>
          </a:prstGeom>
          <a:solidFill>
            <a:srgbClr val="E6FF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[0-63], [64-127]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9120" y="4023360"/>
            <a:ext cx="2011680" cy="365760"/>
          </a:xfrm>
          <a:prstGeom prst="rect">
            <a:avLst/>
          </a:prstGeom>
          <a:solidFill>
            <a:srgbClr val="FFF0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1200" y="4389120"/>
            <a:ext cx="1371600" cy="36576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44240" y="4389120"/>
            <a:ext cx="2286000" cy="365760"/>
          </a:xfrm>
          <a:prstGeom prst="rect">
            <a:avLst/>
          </a:prstGeom>
          <a:solidFill>
            <a:srgbClr val="FFFF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[0,4], [8,12]...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21680" y="4389120"/>
            <a:ext cx="2286000" cy="365760"/>
          </a:xfrm>
          <a:prstGeom prst="rect">
            <a:avLst/>
          </a:prstGeom>
          <a:solidFill>
            <a:srgbClr val="E6FF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[0-63], [64-127]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9120" y="4389120"/>
            <a:ext cx="2011680" cy="365760"/>
          </a:xfrm>
          <a:prstGeom prst="rect">
            <a:avLst/>
          </a:prstGeom>
          <a:solidFill>
            <a:srgbClr val="FFF0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1200" y="4754880"/>
            <a:ext cx="1371600" cy="36576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4240" y="4754880"/>
            <a:ext cx="2286000" cy="365760"/>
          </a:xfrm>
          <a:prstGeom prst="rect">
            <a:avLst/>
          </a:prstGeom>
          <a:solidFill>
            <a:srgbClr val="FFFF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[0,64], [128,192]...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21680" y="4754880"/>
            <a:ext cx="2286000" cy="365760"/>
          </a:xfrm>
          <a:prstGeom prst="rect">
            <a:avLst/>
          </a:prstGeom>
          <a:solidFill>
            <a:srgbClr val="E6FF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[0-63], [64-127]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9120" y="4754880"/>
            <a:ext cx="2011680" cy="365760"/>
          </a:xfrm>
          <a:prstGeom prst="rect">
            <a:avLst/>
          </a:prstGeom>
          <a:solidFill>
            <a:srgbClr val="FFF0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rPr sz="1000"/>
              <a:t>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200" y="5303521"/>
            <a:ext cx="8229600" cy="276999"/>
          </a:xfrm>
          <a:prstGeom prst="rect">
            <a:avLst/>
          </a:prstGeom>
          <a:solidFill>
            <a:srgbClr val="FFFACD"/>
          </a:solidFill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rPr sz="1200"/>
              <a:t>Pattern: Each pass doubles the stride between paired elements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0" y="274321"/>
            <a:ext cx="49185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Complete Algorithm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1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/>
              <a:t>Step-by-Step Execution: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800" y="1358891"/>
            <a:ext cx="5486400" cy="514289"/>
          </a:xfrm>
          <a:prstGeom prst="rect">
            <a:avLst/>
          </a:prstGeom>
          <a:solidFill>
            <a:srgbClr val="ADD8E6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200" dirty="0"/>
              <a:t>1. Initialize</a:t>
            </a:r>
          </a:p>
          <a:p>
            <a:r>
              <a:rPr dirty="0">
                <a:solidFill>
                  <a:schemeClr val="tx1"/>
                </a:solidFill>
              </a:rPr>
              <a:t>p1 = </a:t>
            </a:r>
            <a:r>
              <a:rPr dirty="0" err="1">
                <a:solidFill>
                  <a:schemeClr val="tx1"/>
                </a:solidFill>
              </a:rPr>
              <a:t>src</a:t>
            </a:r>
            <a:r>
              <a:rPr dirty="0">
                <a:solidFill>
                  <a:schemeClr val="tx1"/>
                </a:solidFill>
              </a:rPr>
              <a:t>, p2 = </a:t>
            </a:r>
            <a:r>
              <a:rPr dirty="0" err="1">
                <a:solidFill>
                  <a:schemeClr val="tx1"/>
                </a:solidFill>
              </a:rPr>
              <a:t>dst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67400" y="1781741"/>
            <a:ext cx="45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</a:defRPr>
            </a:pPr>
            <a:r>
              <a:rPr sz="2400" dirty="0"/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800" y="2147499"/>
            <a:ext cx="5486400" cy="1379843"/>
          </a:xfrm>
          <a:prstGeom prst="rect">
            <a:avLst/>
          </a:prstGeom>
          <a:solidFill>
            <a:srgbClr val="FFFF99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200" dirty="0"/>
              <a:t>2. Pass 0-6</a:t>
            </a:r>
          </a:p>
          <a:p>
            <a:r>
              <a:rPr dirty="0">
                <a:solidFill>
                  <a:schemeClr val="tx1"/>
                </a:solidFill>
              </a:rPr>
              <a:t>For each pass:</a:t>
            </a:r>
          </a:p>
          <a:p>
            <a:r>
              <a:rPr dirty="0">
                <a:solidFill>
                  <a:schemeClr val="tx1"/>
                </a:solidFill>
              </a:rPr>
              <a:t>• Process 64 pairs</a:t>
            </a:r>
          </a:p>
          <a:p>
            <a:r>
              <a:rPr dirty="0">
                <a:solidFill>
                  <a:schemeClr val="tx1"/>
                </a:solidFill>
              </a:rPr>
              <a:t>• Apply butterfly</a:t>
            </a:r>
          </a:p>
          <a:p>
            <a:r>
              <a:rPr dirty="0">
                <a:solidFill>
                  <a:schemeClr val="tx1"/>
                </a:solidFill>
              </a:rPr>
              <a:t>• Swap p1↔p2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3506053"/>
            <a:ext cx="45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</a:defRPr>
            </a:pPr>
            <a:r>
              <a:rPr sz="2400" dirty="0"/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2800" y="3875589"/>
            <a:ext cx="5486400" cy="914400"/>
          </a:xfrm>
          <a:prstGeom prst="rect">
            <a:avLst/>
          </a:prstGeom>
          <a:solidFill>
            <a:srgbClr val="90EE9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200" dirty="0"/>
              <a:t>3. Result</a:t>
            </a:r>
          </a:p>
          <a:p>
            <a:r>
              <a:rPr dirty="0">
                <a:solidFill>
                  <a:schemeClr val="tx1"/>
                </a:solidFill>
              </a:rPr>
              <a:t>After 7 passes,</a:t>
            </a:r>
          </a:p>
          <a:p>
            <a:r>
              <a:rPr dirty="0">
                <a:solidFill>
                  <a:schemeClr val="tx1"/>
                </a:solidFill>
              </a:rPr>
              <a:t>transform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200" y="5029200"/>
            <a:ext cx="8229600" cy="1123384"/>
          </a:xfrm>
          <a:prstGeom prst="rect">
            <a:avLst/>
          </a:prstGeom>
          <a:solidFill>
            <a:srgbClr val="FFF0F5"/>
          </a:solidFill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rPr sz="1300"/>
              <a:t>Why 7 passes?</a:t>
            </a:r>
          </a:p>
          <a:p>
            <a:r>
              <a:t>• Transform operates on 128 = 2⁷ elements</a:t>
            </a:r>
          </a:p>
          <a:p>
            <a:r>
              <a:t>• Each pass handles one level of the binary tree</a:t>
            </a:r>
          </a:p>
          <a:p>
            <a:r>
              <a:t>• log₂(128) = 7 passes needed for complete transform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0" y="274321"/>
            <a:ext cx="53188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Example: First Pass (Pass 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rPr sz="1400"/>
              <a:t>Pass 0 pairs adjacent elements (stride = 1):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164592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rPr sz="1100"/>
              <a:t>Input (p1):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9920" y="1645920"/>
            <a:ext cx="731520" cy="274320"/>
          </a:xfrm>
          <a:prstGeom prst="rect">
            <a:avLst/>
          </a:prstGeom>
          <a:solidFill>
            <a:srgbClr val="C8DC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x0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7160" y="1645920"/>
            <a:ext cx="731520" cy="274320"/>
          </a:xfrm>
          <a:prstGeom prst="rect">
            <a:avLst/>
          </a:prstGeom>
          <a:solidFill>
            <a:srgbClr val="FFDC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x1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645920"/>
            <a:ext cx="731520" cy="274320"/>
          </a:xfrm>
          <a:prstGeom prst="rect">
            <a:avLst/>
          </a:prstGeom>
          <a:solidFill>
            <a:srgbClr val="C8DC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x2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1639" y="1645920"/>
            <a:ext cx="731520" cy="274320"/>
          </a:xfrm>
          <a:prstGeom prst="rect">
            <a:avLst/>
          </a:prstGeom>
          <a:solidFill>
            <a:srgbClr val="FFDC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x3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880" y="1645920"/>
            <a:ext cx="731520" cy="274320"/>
          </a:xfrm>
          <a:prstGeom prst="rect">
            <a:avLst/>
          </a:prstGeom>
          <a:solidFill>
            <a:srgbClr val="C8DC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x4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56120" y="1645920"/>
            <a:ext cx="731520" cy="274320"/>
          </a:xfrm>
          <a:prstGeom prst="rect">
            <a:avLst/>
          </a:prstGeom>
          <a:solidFill>
            <a:srgbClr val="FFDC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x5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3359" y="1645920"/>
            <a:ext cx="731520" cy="274320"/>
          </a:xfrm>
          <a:prstGeom prst="rect">
            <a:avLst/>
          </a:prstGeom>
          <a:solidFill>
            <a:srgbClr val="C8DC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x6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10600" y="1645920"/>
            <a:ext cx="731520" cy="274320"/>
          </a:xfrm>
          <a:prstGeom prst="rect">
            <a:avLst/>
          </a:prstGeom>
          <a:solidFill>
            <a:srgbClr val="FFDC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rPr sz="900"/>
              <a:t>x7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9279" y="1645920"/>
            <a:ext cx="731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rPr sz="1100"/>
              <a:t>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2011681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rPr sz="1000"/>
              <a:t>Butterfly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800" y="201168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7280" y="201168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760" y="201168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6240" y="201168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1200" y="2468881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rPr sz="1000"/>
              <a:t>Output [0-63]: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9920" y="2468880"/>
            <a:ext cx="1508760" cy="320040"/>
          </a:xfrm>
          <a:prstGeom prst="rect">
            <a:avLst/>
          </a:prstGeom>
          <a:solidFill>
            <a:srgbClr val="C8FF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rPr sz="800"/>
              <a:t>x0+x1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4400" y="2468880"/>
            <a:ext cx="1508760" cy="320040"/>
          </a:xfrm>
          <a:prstGeom prst="rect">
            <a:avLst/>
          </a:prstGeom>
          <a:solidFill>
            <a:srgbClr val="C8FF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rPr sz="800"/>
              <a:t>x2+x3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880" y="2468880"/>
            <a:ext cx="1508760" cy="320040"/>
          </a:xfrm>
          <a:prstGeom prst="rect">
            <a:avLst/>
          </a:prstGeom>
          <a:solidFill>
            <a:srgbClr val="C8FF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rPr sz="800"/>
              <a:t>x4+x5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3359" y="2468880"/>
            <a:ext cx="1508760" cy="320040"/>
          </a:xfrm>
          <a:prstGeom prst="rect">
            <a:avLst/>
          </a:prstGeom>
          <a:solidFill>
            <a:srgbClr val="C8FF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rPr sz="800"/>
              <a:t>x6+x7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279" y="2468880"/>
            <a:ext cx="731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rPr sz="1100"/>
              <a:t>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1200" y="2926080"/>
            <a:ext cx="109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rPr sz="1000"/>
              <a:t>Output [64-127]: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69920" y="2926080"/>
            <a:ext cx="1508760" cy="320040"/>
          </a:xfrm>
          <a:prstGeom prst="rect">
            <a:avLst/>
          </a:prstGeom>
          <a:solidFill>
            <a:srgbClr val="FFDCDC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rPr sz="800"/>
              <a:t>x0−x1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24400" y="2926080"/>
            <a:ext cx="1508760" cy="320040"/>
          </a:xfrm>
          <a:prstGeom prst="rect">
            <a:avLst/>
          </a:prstGeom>
          <a:solidFill>
            <a:srgbClr val="FFDCDC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rPr sz="800"/>
              <a:t>x2−x3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8880" y="2926080"/>
            <a:ext cx="1508760" cy="320040"/>
          </a:xfrm>
          <a:prstGeom prst="rect">
            <a:avLst/>
          </a:prstGeom>
          <a:solidFill>
            <a:srgbClr val="FFDCDC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rPr sz="800"/>
              <a:t>x4−x5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3359" y="2926080"/>
            <a:ext cx="1508760" cy="320040"/>
          </a:xfrm>
          <a:prstGeom prst="rect">
            <a:avLst/>
          </a:prstGeom>
          <a:solidFill>
            <a:srgbClr val="FFDCDC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rPr sz="800"/>
              <a:t>x6−x7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279" y="2926080"/>
            <a:ext cx="731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rPr sz="1100"/>
              <a:t>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81200" y="3566160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rPr sz="1200"/>
              <a:t>Observations:</a:t>
            </a:r>
          </a:p>
          <a:p>
            <a:r>
              <a:t>• Pairs: (x₀,x₁), (x₂,x₃), (x₄,x₅), etc.</a:t>
            </a:r>
          </a:p>
          <a:p>
            <a:r>
              <a:t>• First half gets sums: x₀+x₁, x₂+x₃, x₄+x₅...</a:t>
            </a:r>
          </a:p>
          <a:p>
            <a:r>
              <a:t>• Second half gets differences: x₀−x₁, x₂−x₃, x₄−x₅...</a:t>
            </a:r>
          </a:p>
          <a:p>
            <a:r>
              <a:t>• All 64 pairs processed in parallel conceptually</a:t>
            </a:r>
          </a:p>
          <a:p>
            <a:endParaRPr/>
          </a:p>
          <a:p>
            <a:r>
              <a:t>Next passes will operate on these results with larger strides.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FD04-90EC-48DC-445E-6D739F79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TR" dirty="0"/>
              <a:t>ind_peaks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2671D-2068-F7B7-048B-E3A13D341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6744" y="1629876"/>
            <a:ext cx="3704770" cy="4175838"/>
          </a:xfrm>
        </p:spPr>
        <p:txBody>
          <a:bodyPr>
            <a:normAutofit fontScale="77500" lnSpcReduction="20000"/>
          </a:bodyPr>
          <a:lstStyle/>
          <a:p>
            <a:r>
              <a:rPr lang="en-TR" dirty="0"/>
              <a:t>Her 128 bit için o bit değerinin mutlak değeri bitwise logic operasyonları ile bulunur</a:t>
            </a:r>
            <a:r>
              <a:rPr lang="en-TR" dirty="0">
                <a:sym typeface="Wingdings" pitchFamily="2" charset="2"/>
              </a:rPr>
              <a:t>(bunun sebebi branching’</a:t>
            </a:r>
            <a:r>
              <a:rPr lang="en-US" dirty="0" err="1">
                <a:sym typeface="Wingdings" pitchFamily="2" charset="2"/>
              </a:rPr>
              <a:t>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önleyip</a:t>
            </a:r>
            <a:r>
              <a:rPr lang="en-US" dirty="0">
                <a:sym typeface="Wingdings" pitchFamily="2" charset="2"/>
              </a:rPr>
              <a:t> side-channel </a:t>
            </a:r>
            <a:r>
              <a:rPr lang="en-US" dirty="0" err="1">
                <a:sym typeface="Wingdings" pitchFamily="2" charset="2"/>
              </a:rPr>
              <a:t>ataklara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karşı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secure’laşmaktır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r>
              <a:rPr lang="en-US" dirty="0" err="1">
                <a:sym typeface="Wingdings" pitchFamily="2" charset="2"/>
              </a:rPr>
              <a:t>Mutlak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değeri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en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büyük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olan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değer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bulunur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Bu </a:t>
            </a:r>
            <a:r>
              <a:rPr lang="en-US" dirty="0" err="1">
                <a:sym typeface="Wingdings" pitchFamily="2" charset="2"/>
              </a:rPr>
              <a:t>değerden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asıl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mesaj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elde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edilir</a:t>
            </a:r>
            <a:r>
              <a:rPr lang="en-US" dirty="0">
                <a:sym typeface="Wingdings" pitchFamily="2" charset="2"/>
              </a:rPr>
              <a:t></a:t>
            </a:r>
          </a:p>
          <a:p>
            <a:r>
              <a:rPr lang="en-US" dirty="0" err="1">
                <a:sym typeface="Wingdings" pitchFamily="2" charset="2"/>
              </a:rPr>
              <a:t>Değerin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pozisyonu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zaten</a:t>
            </a:r>
            <a:r>
              <a:rPr lang="en-US" dirty="0">
                <a:sym typeface="Wingdings" pitchFamily="2" charset="2"/>
              </a:rPr>
              <a:t> 7 </a:t>
            </a:r>
            <a:r>
              <a:rPr lang="en-US" dirty="0" err="1">
                <a:sym typeface="Wingdings" pitchFamily="2" charset="2"/>
              </a:rPr>
              <a:t>biti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verir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kalan</a:t>
            </a:r>
            <a:r>
              <a:rPr lang="en-US" dirty="0">
                <a:sym typeface="Wingdings" pitchFamily="2" charset="2"/>
              </a:rPr>
              <a:t> 1 bit </a:t>
            </a:r>
            <a:r>
              <a:rPr lang="en-US" dirty="0" err="1">
                <a:sym typeface="Wingdings" pitchFamily="2" charset="2"/>
              </a:rPr>
              <a:t>ise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değerin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işaretine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göre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belirlenir</a:t>
            </a:r>
            <a:r>
              <a:rPr lang="en-US" dirty="0">
                <a:sym typeface="Wingdings" pitchFamily="2" charset="2"/>
              </a:rPr>
              <a:t>.</a:t>
            </a:r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A6C2B-A814-8993-0F91-0E592B5AE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7" y="1588518"/>
            <a:ext cx="7159171" cy="39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605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3059" y="857518"/>
            <a:ext cx="8930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 dirty="0"/>
              <a:t>Step 1: Computing Absolute Value (Branchless)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515666"/>
            <a:ext cx="5374035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Courier New"/>
              </a:defRPr>
            </a:pPr>
            <a:r>
              <a:rPr sz="1400"/>
              <a:t>int32_t t = (*transform)[i];</a:t>
            </a:r>
          </a:p>
          <a:p>
            <a:r>
              <a:t>int32_t pos_mask = -(t &gt; 0);</a:t>
            </a:r>
          </a:p>
          <a:p>
            <a:r>
              <a:t>int32_t absolute = (pos_mask &amp; t) | (~pos_mask &amp; -t);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237744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t = (*transform)[i]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Get value from array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pos_mask = -(t &gt; 0)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0xFFFFFFFF if t&gt;0, else 0x00000000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absolute = (pos_mask &amp; t) | (~pos_mask &amp; -t)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t if positive, -t if negative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38400" y="475488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 value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 &gt; 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pos_mask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absolute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0xFFFFFFFF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-42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0x00000000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0x00000000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24F7DA6-8321-0645-64C7-EB6A333AEC4E}"/>
              </a:ext>
            </a:extLst>
          </p:cNvPr>
          <p:cNvSpPr txBox="1">
            <a:spLocks/>
          </p:cNvSpPr>
          <p:nvPr/>
        </p:nvSpPr>
        <p:spPr>
          <a:xfrm>
            <a:off x="1150680" y="164812"/>
            <a:ext cx="10515600" cy="5847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R" dirty="0"/>
              <a:t>Visualization of find_peaks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49215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Understanding pos_mask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12317" y="1097281"/>
            <a:ext cx="67673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sz="1400"/>
              <a:t>pos_mask = -(t &gt; 0)   creates an all-1s mask for positive, all-0s for negative/zero</a:t>
            </a:r>
          </a:p>
          <a:p>
            <a:r>
              <a:t>This enables branchless selection using bitwise operations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95600" y="210312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Mask Bits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t &gt; 0 (positive)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11111111 11111111 11111111 11111111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t ≤ 0 (negative/zero)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00000000 00000000 00000000 00000000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43891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pos_mask &amp; 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~pos_mask &amp; -t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t &gt; 0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t (keeps value)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 (masked out)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t ≤ 0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 (masked out)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-t (negates value)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25759" y="6309360"/>
            <a:ext cx="57404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C27B0"/>
                </a:solidFill>
              </a:defRPr>
            </a:pPr>
            <a:r>
              <a:rPr sz="1600"/>
              <a:t>Result = (pos_mask &amp; t) | (~pos_mask &amp; -t) → Always positive!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850700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2: Peak Comparison (Ternary Operators)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05840"/>
            <a:ext cx="7603556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Courier New"/>
              </a:defRPr>
            </a:pPr>
            <a:r>
              <a:rPr sz="1400"/>
              <a:t>peak_value = absolute &gt; peak_abs_value ? t : peak_value;</a:t>
            </a:r>
          </a:p>
          <a:p>
            <a:r>
              <a:t>peak_pos = absolute &gt; peak_abs_value ? i : peak_pos;</a:t>
            </a:r>
          </a:p>
          <a:p>
            <a:r>
              <a:t>peak_abs_value = absolute &gt; peak_abs_value ? absolute : peak_abs_value;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4400" y="2468880"/>
            <a:ext cx="2743200" cy="861774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/>
              <a:t>Compare:</a:t>
            </a:r>
          </a:p>
          <a:p>
            <a:r>
              <a:t>absolute &gt; peak_abs_value?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895600" y="3017520"/>
            <a:ext cx="1645920" cy="822960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981200" y="3840480"/>
            <a:ext cx="1828800" cy="7315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/>
              <a:t>YES:</a:t>
            </a:r>
          </a:p>
          <a:p>
            <a:r>
              <a:t>Update all three</a:t>
            </a:r>
          </a:p>
          <a:p>
            <a:r>
              <a:t>variables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50480" y="3017520"/>
            <a:ext cx="731520" cy="822960"/>
          </a:xfrm>
          <a:prstGeom prst="line">
            <a:avLst/>
          </a:prstGeom>
          <a:ln w="381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467600" y="3840480"/>
            <a:ext cx="1828800" cy="73152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/>
              <a:t>NO:</a:t>
            </a:r>
          </a:p>
          <a:p>
            <a:r>
              <a:t>Keep current</a:t>
            </a:r>
          </a:p>
          <a:p>
            <a:r>
              <a:t>values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55520" y="457200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If absolute &gt; peak_abs_value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Otherwise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peak_value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t (current value)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peak_value (unchanged)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peak_pos</a:t>
                      </a:r>
                    </a:p>
                  </a:txBody>
                  <a:tcPr>
                    <a:solidFill>
                      <a:srgbClr val="9C2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i (current index)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peak_pos (unchanged)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peak_abs_value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absolute (new max)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peak_abs_value (unchanged)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48127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Example: Loop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3080" y="1005841"/>
            <a:ext cx="40058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sz="1400"/>
              <a:t>Sample transform array: [5, -12, 3, 20, -25, 8, ...]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98320" y="1737360"/>
          <a:ext cx="8595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absolute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absolute&gt;peak?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peak_value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peak_pos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peak_abs_value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init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-12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-12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-12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-25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-25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777641" y="6217921"/>
            <a:ext cx="46367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C27B0"/>
                </a:solidFill>
              </a:defRPr>
            </a:pPr>
            <a:r>
              <a:rPr sz="1400"/>
              <a:t>Peak found at index 4 with value -25 (absolute value 25)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64584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/>
              <a:t>Step 3: Setting Bit 7 Based on 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400" y="1005841"/>
            <a:ext cx="3664016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Courier New"/>
              </a:defRPr>
            </a:pPr>
            <a:r>
              <a:rPr sz="1600"/>
              <a:t>// set bit 7</a:t>
            </a:r>
          </a:p>
          <a:p>
            <a:r>
              <a:t>peak_pos |= 128 * (peak_value &gt; 0);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5766" y="1920240"/>
            <a:ext cx="6860468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sz="1300"/>
              <a:t>This operation encodes the sign of the peak value into bit 7 of the position</a:t>
            </a:r>
          </a:p>
          <a:p>
            <a:r>
              <a:t>128 * (peak_value &gt; 0) evaluates to 128 if positive, 0 if negative/zero</a:t>
            </a:r>
          </a:p>
          <a:p>
            <a:r>
              <a:t>OR operation (|=) sets bit 7 without changing bits 0-6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38400" y="310896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peak_value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peak_value &gt; 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128 * result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Effect on peak_pos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Positive (&gt;0)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128 (0x80)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Bit 7 = 1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Negative (&lt;0)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 (0x00)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Bit 7 = 0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Zero (=0)</a:t>
                      </a:r>
                    </a:p>
                  </a:txBody>
                  <a:tcPr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 (0x00)</a:t>
                      </a:r>
                    </a:p>
                  </a:txBody>
                  <a:tcPr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Bit 7 = 0</a:t>
                      </a:r>
                    </a:p>
                  </a:txBody>
                  <a:tcPr>
                    <a:solidFill>
                      <a:srgbClr val="FFC1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95600" y="521208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Binary Representation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peak_pos = 42, peak positive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10101010 (42 | 128 = 170)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peak_pos = 42, peak negative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00101010 (42 | 0 = 42)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0637-B436-C7F3-3065-41B5C3A51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Reed_solomon_decode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EFA52-B3B1-EA66-42F2-92A4B842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578" y="1825625"/>
            <a:ext cx="4718222" cy="4351338"/>
          </a:xfrm>
        </p:spPr>
        <p:txBody>
          <a:bodyPr>
            <a:normAutofit fontScale="70000" lnSpcReduction="20000"/>
          </a:bodyPr>
          <a:lstStyle/>
          <a:p>
            <a:r>
              <a:rPr lang="tr-TR" dirty="0"/>
              <a:t>Girdi: 46 byte RS </a:t>
            </a:r>
            <a:r>
              <a:rPr lang="tr-TR" dirty="0" err="1"/>
              <a:t>codeword</a:t>
            </a:r>
            <a:r>
              <a:rPr lang="tr-TR" dirty="0"/>
              <a:t> (</a:t>
            </a:r>
            <a:r>
              <a:rPr lang="tr-TR" dirty="0" err="1"/>
              <a:t>error</a:t>
            </a:r>
            <a:r>
              <a:rPr lang="tr-TR" dirty="0"/>
              <a:t> hala olabilir).</a:t>
            </a:r>
            <a:br>
              <a:rPr lang="tr-TR" dirty="0"/>
            </a:br>
            <a:r>
              <a:rPr lang="tr-TR" dirty="0"/>
              <a:t>Amaç: hatalı sembolleri düzeltip son k byte’ı (mesaj kısmını) çıkarmaktır.</a:t>
            </a:r>
          </a:p>
          <a:p>
            <a:r>
              <a:rPr lang="tr-TR" dirty="0"/>
              <a:t>RS </a:t>
            </a:r>
            <a:r>
              <a:rPr lang="tr-TR" dirty="0" err="1"/>
              <a:t>decode</a:t>
            </a:r>
            <a:r>
              <a:rPr lang="tr-TR" dirty="0"/>
              <a:t> üç ana yancı fonksiyona dayanır:</a:t>
            </a:r>
          </a:p>
          <a:p>
            <a:pPr lvl="0"/>
            <a:r>
              <a:rPr lang="tr-TR" dirty="0" err="1"/>
              <a:t>rs_synd</a:t>
            </a:r>
            <a:r>
              <a:rPr lang="tr-TR" dirty="0"/>
              <a:t>: sendromları hesaplar (hata var mı yok mu).</a:t>
            </a:r>
          </a:p>
          <a:p>
            <a:pPr lvl="0"/>
            <a:r>
              <a:rPr lang="tr-TR" dirty="0" err="1"/>
              <a:t>rs_elp</a:t>
            </a:r>
            <a:r>
              <a:rPr lang="tr-TR" dirty="0"/>
              <a:t>: hata yerlerini bulmak için 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locator</a:t>
            </a:r>
            <a:r>
              <a:rPr lang="tr-TR" dirty="0"/>
              <a:t> </a:t>
            </a:r>
            <a:r>
              <a:rPr lang="tr-TR" dirty="0" err="1"/>
              <a:t>polynomial</a:t>
            </a:r>
            <a:r>
              <a:rPr lang="tr-TR" dirty="0"/>
              <a:t> üretir.</a:t>
            </a:r>
          </a:p>
          <a:p>
            <a:pPr lvl="0"/>
            <a:r>
              <a:rPr lang="tr-TR" dirty="0" err="1"/>
              <a:t>rs_roots</a:t>
            </a:r>
            <a:r>
              <a:rPr lang="tr-TR" dirty="0"/>
              <a:t>: </a:t>
            </a:r>
            <a:r>
              <a:rPr lang="tr-TR" dirty="0" err="1"/>
              <a:t>locator</a:t>
            </a:r>
            <a:r>
              <a:rPr lang="tr-TR" dirty="0"/>
              <a:t> </a:t>
            </a:r>
            <a:r>
              <a:rPr lang="tr-TR" dirty="0" err="1"/>
              <a:t>polynomial’in</a:t>
            </a:r>
            <a:r>
              <a:rPr lang="tr-TR" dirty="0"/>
              <a:t> köklerinden hata pozisyonlarını çıkarır.</a:t>
            </a:r>
            <a:br>
              <a:rPr lang="tr-TR" dirty="0"/>
            </a:br>
            <a:r>
              <a:rPr lang="tr-TR" dirty="0"/>
              <a:t>Sonra </a:t>
            </a:r>
            <a:r>
              <a:rPr lang="tr-TR" dirty="0" err="1"/>
              <a:t>rs_decode</a:t>
            </a:r>
            <a:r>
              <a:rPr lang="tr-TR" dirty="0"/>
              <a:t> hataların değerlerini çözüp düzeltir.</a:t>
            </a:r>
          </a:p>
          <a:p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2CB4A-D4A5-0138-EDD8-0444B70CC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65" y="1554163"/>
            <a:ext cx="5829785" cy="489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274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E27E-3C4D-B07D-4431-EECD0B35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Rs_synd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6F8FD-3965-4FF4-6D09-E11F6C075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6734" y="1825625"/>
            <a:ext cx="2877065" cy="4351337"/>
          </a:xfrm>
        </p:spPr>
        <p:txBody>
          <a:bodyPr>
            <a:normAutofit fontScale="70000" lnSpcReduction="20000"/>
          </a:bodyPr>
          <a:lstStyle/>
          <a:p>
            <a:r>
              <a:rPr lang="tr-TR" dirty="0"/>
              <a:t>Girdi: </a:t>
            </a:r>
            <a:r>
              <a:rPr lang="tr-TR" dirty="0" err="1"/>
              <a:t>cw</a:t>
            </a:r>
            <a:r>
              <a:rPr lang="tr-TR" dirty="0"/>
              <a:t> (46 byte), t yoksa t=2*delta=30.</a:t>
            </a:r>
            <a:br>
              <a:rPr lang="tr-TR" dirty="0"/>
            </a:br>
            <a:r>
              <a:rPr lang="tr-TR" dirty="0"/>
              <a:t>Çıktı: </a:t>
            </a:r>
            <a:r>
              <a:rPr lang="tr-TR" dirty="0" err="1"/>
              <a:t>syn</a:t>
            </a:r>
            <a:r>
              <a:rPr lang="tr-TR" dirty="0"/>
              <a:t> (30 byte).</a:t>
            </a:r>
          </a:p>
          <a:p>
            <a:r>
              <a:rPr lang="tr-TR" dirty="0"/>
              <a:t>Bir sendrom maliyeti:</a:t>
            </a:r>
          </a:p>
          <a:p>
            <a:pPr lvl="0"/>
            <a:r>
              <a:rPr lang="tr-TR" dirty="0" err="1"/>
              <a:t>gf_mul</a:t>
            </a:r>
            <a:r>
              <a:rPr lang="tr-TR" dirty="0"/>
              <a:t>: 1 + 45*2 = 91</a:t>
            </a:r>
          </a:p>
          <a:p>
            <a:pPr lvl="0"/>
            <a:r>
              <a:rPr lang="tr-TR" dirty="0"/>
              <a:t>XOR: 45</a:t>
            </a:r>
          </a:p>
          <a:p>
            <a:r>
              <a:rPr lang="tr-TR" dirty="0"/>
              <a:t>30 sendrom toplam(klasik döngü sayısı):</a:t>
            </a:r>
          </a:p>
          <a:p>
            <a:pPr lvl="0"/>
            <a:r>
              <a:rPr lang="tr-TR" dirty="0" err="1"/>
              <a:t>gf_mul</a:t>
            </a:r>
            <a:r>
              <a:rPr lang="tr-TR" dirty="0"/>
              <a:t>: 30*91 = 2730</a:t>
            </a:r>
          </a:p>
          <a:p>
            <a:pPr lvl="0"/>
            <a:r>
              <a:rPr lang="tr-TR" dirty="0"/>
              <a:t>XOR: 30*45 = 1350</a:t>
            </a:r>
            <a:br>
              <a:rPr lang="tr-TR" dirty="0"/>
            </a:br>
            <a:r>
              <a:rPr lang="tr-TR" dirty="0"/>
              <a:t>Hepsi 1 byte × 1 byte GF(256) işlemleri.</a:t>
            </a:r>
          </a:p>
          <a:p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94B04-2A43-9794-0805-D3E7F8EA4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5184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822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0"/>
            <a:ext cx="32625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6496FF"/>
                </a:solidFill>
              </a:defRPr>
            </a:pPr>
            <a:r>
              <a:rPr sz="2800"/>
              <a:t>Step 1: Initial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6975" y="946725"/>
            <a:ext cx="5662127" cy="16466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100" dirty="0">
                <a:solidFill>
                  <a:schemeClr val="tx2"/>
                </a:solidFill>
              </a:rPr>
              <a:t>for (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= 0; 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&lt; 2 * PARAM_DELTA; ++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) {</a:t>
            </a:r>
          </a:p>
          <a:p>
            <a:r>
              <a:rPr dirty="0"/>
              <a:t>    for (j = 1; j &lt; PARAM_N1; ++j) {</a:t>
            </a:r>
          </a:p>
          <a:p>
            <a:r>
              <a:rPr dirty="0"/>
              <a:t>    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gf_mul</a:t>
            </a:r>
            <a:r>
              <a:rPr dirty="0"/>
              <a:t>(</a:t>
            </a:r>
            <a:r>
              <a:rPr dirty="0" err="1"/>
              <a:t>cdw</a:t>
            </a:r>
            <a:r>
              <a:rPr dirty="0"/>
              <a:t>[j], </a:t>
            </a:r>
            <a:r>
              <a:rPr dirty="0" err="1"/>
              <a:t>alpha_ij_pow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][j-1]);</a:t>
            </a:r>
          </a:p>
          <a:p>
            <a:r>
              <a:rPr dirty="0"/>
              <a:t>    }</a:t>
            </a:r>
          </a:p>
          <a:p>
            <a:r>
              <a:rPr dirty="0"/>
              <a:t>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cdw</a:t>
            </a:r>
            <a:r>
              <a:rPr dirty="0"/>
              <a:t>[0];</a:t>
            </a:r>
          </a:p>
          <a:p>
            <a:r>
              <a:rPr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1" y="1097281"/>
            <a:ext cx="20498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cdw[] (codeword array)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320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901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702868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449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50417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7A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998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9664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3F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5474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5152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0962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064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2C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645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0612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1193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8161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742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1" y="2743201"/>
            <a:ext cx="235051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syndromes[] (output array)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10896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759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93280" y="310896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767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33360" y="310896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775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3440" y="310896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783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13520" y="310896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791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53600" y="310896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799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1200" y="3657600"/>
            <a:ext cx="16225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rPr sz="1600"/>
              <a:t>Loop Variables: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200" y="4023361"/>
            <a:ext cx="19354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6496FF"/>
                </a:solidFill>
              </a:defRPr>
            </a:pPr>
            <a:r>
              <a:rPr sz="1400"/>
              <a:t>i = 0 (syndrome index)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81201" y="4389121"/>
            <a:ext cx="19351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</a:defRPr>
            </a:pPr>
            <a:r>
              <a:rPr sz="1400"/>
              <a:t>j = 0 (codeword index)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0"/>
            <a:ext cx="67970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6496FF"/>
                </a:solidFill>
              </a:defRPr>
            </a:pPr>
            <a:r>
              <a:rPr sz="2800"/>
              <a:t>Step 2: i=0, j=1 - First Inner Loop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751" y="959778"/>
            <a:ext cx="5646161" cy="16466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100" dirty="0">
                <a:solidFill>
                  <a:schemeClr val="tx2"/>
                </a:solidFill>
              </a:rPr>
              <a:t>for (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= 0; 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&lt; 2 * PARAM_DELTA; ++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) {</a:t>
            </a:r>
          </a:p>
          <a:p>
            <a:r>
              <a:rPr dirty="0"/>
              <a:t>    for (j = 1; j &lt; PARAM_N1; ++j) {</a:t>
            </a:r>
          </a:p>
          <a:p>
            <a:r>
              <a:rPr dirty="0"/>
              <a:t>    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gf_mul</a:t>
            </a:r>
            <a:r>
              <a:rPr dirty="0"/>
              <a:t>(</a:t>
            </a:r>
            <a:r>
              <a:rPr dirty="0" err="1"/>
              <a:t>cdw</a:t>
            </a:r>
            <a:r>
              <a:rPr dirty="0"/>
              <a:t>[j], </a:t>
            </a:r>
            <a:r>
              <a:rPr dirty="0" err="1"/>
              <a:t>alpha_ij_pow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][j-1]);</a:t>
            </a:r>
          </a:p>
          <a:p>
            <a:r>
              <a:rPr dirty="0"/>
              <a:t>    }</a:t>
            </a:r>
          </a:p>
          <a:p>
            <a:r>
              <a:rPr dirty="0"/>
              <a:t>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cdw</a:t>
            </a:r>
            <a:r>
              <a:rPr dirty="0"/>
              <a:t>[0];</a:t>
            </a:r>
          </a:p>
          <a:p>
            <a:r>
              <a:rPr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1" y="1097281"/>
            <a:ext cx="646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cdw[]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320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901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8688" y="1463040"/>
            <a:ext cx="457200" cy="457200"/>
          </a:xfrm>
          <a:prstGeom prst="rect">
            <a:avLst/>
          </a:prstGeom>
          <a:solidFill>
            <a:srgbClr val="FFA500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449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0417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7A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98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9664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3F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5474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5152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0962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064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645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612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193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8161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742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200" y="2286000"/>
            <a:ext cx="3657600" cy="548640"/>
          </a:xfrm>
          <a:prstGeom prst="roundRect">
            <a:avLst/>
          </a:prstGeom>
          <a:solidFill>
            <a:srgbClr val="3C5078"/>
          </a:solidFill>
          <a:ln w="25400">
            <a:solidFill>
              <a:srgbClr val="6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200"/>
              <a:t>gf_mul(cdw[1], alpha_ij_pow[0][0]) = gf_mul(0x12, α⁰) = 0x12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82000" y="2834640"/>
            <a:ext cx="0" cy="457200"/>
          </a:xfrm>
          <a:prstGeom prst="line">
            <a:avLst/>
          </a:prstGeom>
          <a:ln w="50800">
            <a:solidFill>
              <a:srgbClr val="50C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53201" y="3474721"/>
            <a:ext cx="12135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syndromes[]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3840480"/>
            <a:ext cx="594360" cy="457200"/>
          </a:xfrm>
          <a:prstGeom prst="rect">
            <a:avLst/>
          </a:prstGeom>
          <a:solidFill>
            <a:srgbClr val="50C87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759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9328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767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336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775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344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783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1352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791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5360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799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7600" y="3108960"/>
            <a:ext cx="113364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50C878"/>
                </a:solidFill>
              </a:defRPr>
            </a:pPr>
            <a:r>
              <a:rPr sz="1300"/>
              <a:t>0x00 ^= 0x12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1201" y="5029200"/>
            <a:ext cx="9989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rPr sz="1600"/>
              <a:t>i = 0, j = 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0"/>
            <a:ext cx="61093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6496FF"/>
                </a:solidFill>
              </a:defRPr>
            </a:pPr>
            <a:r>
              <a:rPr sz="2800"/>
              <a:t>Step 3: i=0, j=2 - Continue Inner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1933" y="868337"/>
            <a:ext cx="5646161" cy="16466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100" dirty="0">
                <a:solidFill>
                  <a:schemeClr val="tx2"/>
                </a:solidFill>
              </a:rPr>
              <a:t>for (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= 0; 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&lt; 2 * PARAM_DELTA; ++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) {</a:t>
            </a:r>
          </a:p>
          <a:p>
            <a:r>
              <a:rPr dirty="0"/>
              <a:t>    for (j = 1; j &lt; PARAM_N1; ++j) {</a:t>
            </a:r>
          </a:p>
          <a:p>
            <a:r>
              <a:rPr dirty="0"/>
              <a:t>    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gf_mul</a:t>
            </a:r>
            <a:r>
              <a:rPr dirty="0"/>
              <a:t>(</a:t>
            </a:r>
            <a:r>
              <a:rPr dirty="0" err="1"/>
              <a:t>cdw</a:t>
            </a:r>
            <a:r>
              <a:rPr dirty="0"/>
              <a:t>[j], </a:t>
            </a:r>
            <a:r>
              <a:rPr dirty="0" err="1"/>
              <a:t>alpha_ij_pow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][j-1]);</a:t>
            </a:r>
          </a:p>
          <a:p>
            <a:r>
              <a:rPr dirty="0"/>
              <a:t>    }</a:t>
            </a:r>
          </a:p>
          <a:p>
            <a:r>
              <a:rPr dirty="0"/>
              <a:t>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cdw</a:t>
            </a:r>
            <a:r>
              <a:rPr dirty="0"/>
              <a:t>[0];</a:t>
            </a:r>
          </a:p>
          <a:p>
            <a:r>
              <a:rPr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1" y="1097281"/>
            <a:ext cx="646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cdw[]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320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901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868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449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04176" y="1463040"/>
            <a:ext cx="457200" cy="457200"/>
          </a:xfrm>
          <a:prstGeom prst="rect">
            <a:avLst/>
          </a:prstGeom>
          <a:solidFill>
            <a:srgbClr val="FFA500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7A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98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9664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3F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5474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5152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0962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064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645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612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193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8161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742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200" y="2286000"/>
            <a:ext cx="3657600" cy="548640"/>
          </a:xfrm>
          <a:prstGeom prst="roundRect">
            <a:avLst/>
          </a:prstGeom>
          <a:solidFill>
            <a:srgbClr val="3C5078"/>
          </a:solidFill>
          <a:ln w="25400">
            <a:solidFill>
              <a:srgbClr val="6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200"/>
              <a:t>gf_mul(cdw[2], alpha_ij_pow[0][1]) = gf_mul(0x7A, α⁰) = 0x7A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82000" y="2834640"/>
            <a:ext cx="0" cy="457200"/>
          </a:xfrm>
          <a:prstGeom prst="line">
            <a:avLst/>
          </a:prstGeom>
          <a:ln w="50800">
            <a:solidFill>
              <a:srgbClr val="50C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53201" y="3474721"/>
            <a:ext cx="12135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syndromes[]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3840480"/>
            <a:ext cx="594360" cy="457200"/>
          </a:xfrm>
          <a:prstGeom prst="rect">
            <a:avLst/>
          </a:prstGeom>
          <a:solidFill>
            <a:srgbClr val="50C87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759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9328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767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336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775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344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783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1352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791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5360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799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7600" y="3108960"/>
            <a:ext cx="114646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50C878"/>
                </a:solidFill>
              </a:defRPr>
            </a:pPr>
            <a:r>
              <a:rPr sz="1300"/>
              <a:t>0x12 ^= 0x7A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1201" y="5029200"/>
            <a:ext cx="9989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rPr sz="1600"/>
              <a:t>i = 0, j = 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0"/>
            <a:ext cx="67621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6496FF"/>
                </a:solidFill>
              </a:defRPr>
            </a:pPr>
            <a:r>
              <a:rPr sz="2800"/>
              <a:t>Step 4: i=0, After Inner Loop - Add cdw[0]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691" y="947067"/>
            <a:ext cx="5646161" cy="16466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100" dirty="0">
                <a:solidFill>
                  <a:schemeClr val="tx2"/>
                </a:solidFill>
              </a:rPr>
              <a:t>for (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= 0; 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&lt; 2 * PARAM_DELTA; ++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) {</a:t>
            </a:r>
          </a:p>
          <a:p>
            <a:r>
              <a:rPr dirty="0"/>
              <a:t>    for (j = 1; j &lt; PARAM_N1; ++j) {</a:t>
            </a:r>
          </a:p>
          <a:p>
            <a:r>
              <a:rPr dirty="0"/>
              <a:t>    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gf_mul</a:t>
            </a:r>
            <a:r>
              <a:rPr dirty="0"/>
              <a:t>(</a:t>
            </a:r>
            <a:r>
              <a:rPr dirty="0" err="1"/>
              <a:t>cdw</a:t>
            </a:r>
            <a:r>
              <a:rPr dirty="0"/>
              <a:t>[j], </a:t>
            </a:r>
            <a:r>
              <a:rPr dirty="0" err="1"/>
              <a:t>alpha_ij_pow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][j-1]);</a:t>
            </a:r>
          </a:p>
          <a:p>
            <a:r>
              <a:rPr dirty="0"/>
              <a:t>    }</a:t>
            </a:r>
          </a:p>
          <a:p>
            <a:r>
              <a:rPr dirty="0"/>
              <a:t>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cdw</a:t>
            </a:r>
            <a:r>
              <a:rPr dirty="0"/>
              <a:t>[0];</a:t>
            </a:r>
          </a:p>
          <a:p>
            <a:r>
              <a:rPr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1" y="1097281"/>
            <a:ext cx="646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cdw[]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3200" y="1463040"/>
            <a:ext cx="457200" cy="457200"/>
          </a:xfrm>
          <a:prstGeom prst="rect">
            <a:avLst/>
          </a:prstGeom>
          <a:solidFill>
            <a:srgbClr val="FF6464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901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868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449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0417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7A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98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9664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3F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5474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5152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0962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064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645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612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193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8161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742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81800" y="1920240"/>
            <a:ext cx="0" cy="1371600"/>
          </a:xfrm>
          <a:prstGeom prst="line">
            <a:avLst/>
          </a:prstGeom>
          <a:ln w="50800">
            <a:solidFill>
              <a:srgbClr val="FF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53200" y="3474721"/>
            <a:ext cx="12137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syndromes[]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840480"/>
            <a:ext cx="594360" cy="457200"/>
          </a:xfrm>
          <a:prstGeom prst="rect">
            <a:avLst/>
          </a:prstGeom>
          <a:solidFill>
            <a:srgbClr val="50C87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6D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759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328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767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36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775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7344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783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1352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791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5360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799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0380" y="2756358"/>
            <a:ext cx="74892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6464"/>
                </a:solidFill>
              </a:defRPr>
            </a:pPr>
            <a:r>
              <a:rPr sz="1300" dirty="0"/>
              <a:t>^= 0x05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81200" y="3200399"/>
            <a:ext cx="4114800" cy="1063929"/>
          </a:xfrm>
          <a:prstGeom prst="roundRect">
            <a:avLst/>
          </a:prstGeom>
          <a:solidFill>
            <a:srgbClr val="3C3C50"/>
          </a:solidFill>
          <a:ln w="254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>
                <a:solidFill>
                  <a:srgbClr val="50C878"/>
                </a:solidFill>
              </a:defRPr>
            </a:pPr>
            <a:r>
              <a:rPr sz="1300"/>
              <a:t>✓ syndrome[0] complete!</a:t>
            </a:r>
          </a:p>
          <a:p>
            <a:r>
              <a:t>Now increment i and repeat for syndrome[1]...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1201" y="5029200"/>
            <a:ext cx="30011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0C878"/>
                </a:solidFill>
              </a:defRPr>
            </a:pPr>
            <a:r>
              <a:rPr sz="1600"/>
              <a:t>i = 0 (complete), moving to i = 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0"/>
            <a:ext cx="66447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6496FF"/>
                </a:solidFill>
              </a:defRPr>
            </a:pPr>
            <a:r>
              <a:rPr sz="2800"/>
              <a:t>Step 5: i=1, j=1 - Start Second Syndrome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9975" y="913715"/>
            <a:ext cx="5662127" cy="16466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100" dirty="0">
                <a:solidFill>
                  <a:schemeClr val="tx2"/>
                </a:solidFill>
              </a:rPr>
              <a:t>for (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= 0; 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&lt; 2 * PARAM_DELTA; ++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) {</a:t>
            </a:r>
          </a:p>
          <a:p>
            <a:r>
              <a:rPr dirty="0"/>
              <a:t>    for (j = 1; j &lt; PARAM_N1; ++j) {</a:t>
            </a:r>
          </a:p>
          <a:p>
            <a:r>
              <a:rPr dirty="0"/>
              <a:t>    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gf_mul</a:t>
            </a:r>
            <a:r>
              <a:rPr dirty="0"/>
              <a:t>(</a:t>
            </a:r>
            <a:r>
              <a:rPr dirty="0" err="1"/>
              <a:t>cdw</a:t>
            </a:r>
            <a:r>
              <a:rPr dirty="0"/>
              <a:t>[j], </a:t>
            </a:r>
            <a:r>
              <a:rPr dirty="0" err="1"/>
              <a:t>alpha_ij_pow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][j-1]);</a:t>
            </a:r>
          </a:p>
          <a:p>
            <a:r>
              <a:rPr dirty="0"/>
              <a:t>    }</a:t>
            </a:r>
          </a:p>
          <a:p>
            <a:r>
              <a:rPr dirty="0"/>
              <a:t>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cdw</a:t>
            </a:r>
            <a:r>
              <a:rPr dirty="0"/>
              <a:t>[0];</a:t>
            </a:r>
          </a:p>
          <a:p>
            <a:r>
              <a:rPr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1" y="1097281"/>
            <a:ext cx="646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cdw[]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320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901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8688" y="1463040"/>
            <a:ext cx="457200" cy="457200"/>
          </a:xfrm>
          <a:prstGeom prst="rect">
            <a:avLst/>
          </a:prstGeom>
          <a:solidFill>
            <a:srgbClr val="FFA500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449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0417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7A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98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9664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3F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5474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5152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0962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064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645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612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193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8161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742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200" y="2286000"/>
            <a:ext cx="3657600" cy="548640"/>
          </a:xfrm>
          <a:prstGeom prst="roundRect">
            <a:avLst/>
          </a:prstGeom>
          <a:solidFill>
            <a:srgbClr val="3C5078"/>
          </a:solidFill>
          <a:ln w="25400">
            <a:solidFill>
              <a:srgbClr val="6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200"/>
              <a:t>gf_mul(cdw[1], alpha_ij_pow[1][0]) = gf_mul(0x12, α¹)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107680" y="2834640"/>
            <a:ext cx="274320" cy="457200"/>
          </a:xfrm>
          <a:prstGeom prst="line">
            <a:avLst/>
          </a:prstGeom>
          <a:ln w="50800">
            <a:solidFill>
              <a:srgbClr val="50C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53201" y="3474721"/>
            <a:ext cx="12135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syndromes[]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3840480"/>
            <a:ext cx="594360" cy="457200"/>
          </a:xfrm>
          <a:prstGeom prst="rect">
            <a:avLst/>
          </a:prstGeom>
          <a:solidFill>
            <a:srgbClr val="28502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6D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759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93280" y="3840480"/>
            <a:ext cx="594360" cy="457200"/>
          </a:xfrm>
          <a:prstGeom prst="rect">
            <a:avLst/>
          </a:prstGeom>
          <a:solidFill>
            <a:srgbClr val="50C87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XX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767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336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775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344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783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1352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791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53600" y="3840480"/>
            <a:ext cx="59436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7990" y="434340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1201" y="5029200"/>
            <a:ext cx="9989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rPr sz="1600"/>
              <a:t>i = 1, j = 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0"/>
            <a:ext cx="75456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50C878"/>
                </a:solidFill>
              </a:defRPr>
            </a:pPr>
            <a:r>
              <a:rPr sz="2800"/>
              <a:t>Step 6: Final State - All Syndromes Computed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371" y="914991"/>
            <a:ext cx="5646161" cy="1923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rPr sz="1100" dirty="0">
                <a:solidFill>
                  <a:schemeClr val="tx2"/>
                </a:solidFill>
              </a:rPr>
              <a:t>for (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= 0; 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 &lt; 2 * PARAM_DELTA; ++</a:t>
            </a:r>
            <a:r>
              <a:rPr sz="1100" dirty="0" err="1">
                <a:solidFill>
                  <a:schemeClr val="tx2"/>
                </a:solidFill>
              </a:rPr>
              <a:t>i</a:t>
            </a:r>
            <a:r>
              <a:rPr sz="1100" dirty="0">
                <a:solidFill>
                  <a:schemeClr val="tx2"/>
                </a:solidFill>
              </a:rPr>
              <a:t>) {</a:t>
            </a:r>
          </a:p>
          <a:p>
            <a:r>
              <a:rPr dirty="0"/>
              <a:t>    for (j = 1; j &lt; PARAM_N1; ++j) {</a:t>
            </a:r>
          </a:p>
          <a:p>
            <a:r>
              <a:rPr dirty="0"/>
              <a:t>    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gf_mul</a:t>
            </a:r>
            <a:r>
              <a:rPr dirty="0"/>
              <a:t>(</a:t>
            </a:r>
            <a:r>
              <a:rPr dirty="0" err="1"/>
              <a:t>cdw</a:t>
            </a:r>
            <a:r>
              <a:rPr dirty="0"/>
              <a:t>[j], </a:t>
            </a:r>
            <a:r>
              <a:rPr dirty="0" err="1"/>
              <a:t>alpha_ij_pow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][j-1]);</a:t>
            </a:r>
          </a:p>
          <a:p>
            <a:r>
              <a:rPr dirty="0"/>
              <a:t>    }</a:t>
            </a:r>
          </a:p>
          <a:p>
            <a:r>
              <a:rPr dirty="0"/>
              <a:t>    syndromes[</a:t>
            </a:r>
            <a:r>
              <a:rPr dirty="0" err="1"/>
              <a:t>i</a:t>
            </a:r>
            <a:r>
              <a:rPr dirty="0"/>
              <a:t>] ^= </a:t>
            </a:r>
            <a:r>
              <a:rPr dirty="0" err="1"/>
              <a:t>cdw</a:t>
            </a:r>
            <a:r>
              <a:rPr dirty="0"/>
              <a:t>[0];</a:t>
            </a:r>
          </a:p>
          <a:p>
            <a:r>
              <a:rPr dirty="0"/>
              <a:t>}</a:t>
            </a:r>
          </a:p>
          <a:p>
            <a:r>
              <a:rPr dirty="0"/>
              <a:t>✓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1" y="1097281"/>
            <a:ext cx="22583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</a:defRPr>
            </a:pPr>
            <a:r>
              <a:rPr sz="1400"/>
              <a:t>cdw[] (input - unchanged)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320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901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702868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449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50417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7A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998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9664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3F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5474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5152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0962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0640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2C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6450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06128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11938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81616" y="1463040"/>
            <a:ext cx="457200" cy="457200"/>
          </a:xfrm>
          <a:prstGeom prst="rect">
            <a:avLst/>
          </a:prstGeom>
          <a:solidFill>
            <a:srgbClr val="323246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sz="1200"/>
              <a:t>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7426" y="196596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07680" y="2011680"/>
            <a:ext cx="0" cy="548640"/>
          </a:xfrm>
          <a:prstGeom prst="line">
            <a:avLst/>
          </a:prstGeom>
          <a:ln w="76200">
            <a:solidFill>
              <a:srgbClr val="50C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53201" y="2743201"/>
            <a:ext cx="31170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</a:defRPr>
            </a:pPr>
            <a:r>
              <a:rPr sz="1400"/>
              <a:t>syndromes[] (output - all computed)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108960"/>
            <a:ext cx="594360" cy="457200"/>
          </a:xfrm>
          <a:prstGeom prst="rect">
            <a:avLst/>
          </a:prstGeom>
          <a:solidFill>
            <a:srgbClr val="28782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6D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759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93280" y="3108960"/>
            <a:ext cx="594360" cy="457200"/>
          </a:xfrm>
          <a:prstGeom prst="rect">
            <a:avLst/>
          </a:prstGeom>
          <a:solidFill>
            <a:srgbClr val="28782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A3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767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33360" y="3108960"/>
            <a:ext cx="594360" cy="457200"/>
          </a:xfrm>
          <a:prstGeom prst="rect">
            <a:avLst/>
          </a:prstGeom>
          <a:solidFill>
            <a:srgbClr val="28782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5F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775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73440" y="3108960"/>
            <a:ext cx="594360" cy="457200"/>
          </a:xfrm>
          <a:prstGeom prst="rect">
            <a:avLst/>
          </a:prstGeom>
          <a:solidFill>
            <a:srgbClr val="28782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B2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783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13520" y="3108960"/>
            <a:ext cx="594360" cy="457200"/>
          </a:xfrm>
          <a:prstGeom prst="rect">
            <a:avLst/>
          </a:prstGeom>
          <a:solidFill>
            <a:srgbClr val="28782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8C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791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53600" y="3108960"/>
            <a:ext cx="594360" cy="457200"/>
          </a:xfrm>
          <a:prstGeom prst="rect">
            <a:avLst/>
          </a:prstGeom>
          <a:solidFill>
            <a:srgbClr val="287828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/>
              <a:t>F1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7990" y="3611880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4B4"/>
                </a:solidFill>
              </a:defRPr>
            </a:pPr>
            <a:r>
              <a:rPr sz="900"/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08051" y="3337560"/>
            <a:ext cx="4114800" cy="2742609"/>
          </a:xfrm>
          <a:prstGeom prst="roundRect">
            <a:avLst/>
          </a:prstGeom>
          <a:solidFill>
            <a:srgbClr val="283C28"/>
          </a:solidFill>
          <a:ln w="381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000"/>
              </a:lnSpc>
              <a:defRPr sz="1300">
                <a:solidFill>
                  <a:srgbClr val="FFFFFF"/>
                </a:solidFill>
              </a:defRPr>
            </a:pPr>
            <a:r>
              <a:rPr sz="1300" dirty="0"/>
              <a:t>✓ Algorithm Complete!</a:t>
            </a:r>
          </a:p>
          <a:p>
            <a:endParaRPr dirty="0"/>
          </a:p>
          <a:p>
            <a:r>
              <a:rPr dirty="0"/>
              <a:t>• Computed 6 syndromes (2×PARAM_DELTA)</a:t>
            </a:r>
          </a:p>
          <a:p>
            <a:r>
              <a:rPr dirty="0"/>
              <a:t>• Each syndrome: polynomial evaluation at α^</a:t>
            </a:r>
            <a:r>
              <a:rPr dirty="0" err="1"/>
              <a:t>i</a:t>
            </a:r>
            <a:endParaRPr dirty="0"/>
          </a:p>
          <a:p>
            <a:r>
              <a:rPr dirty="0"/>
              <a:t>• Used all 8 codeword bytes</a:t>
            </a:r>
          </a:p>
          <a:p>
            <a:r>
              <a:rPr dirty="0"/>
              <a:t>• Inner loop: j from 1 to N1-1</a:t>
            </a:r>
          </a:p>
          <a:p>
            <a:r>
              <a:rPr dirty="0"/>
              <a:t>• Final step: XOR with </a:t>
            </a:r>
            <a:r>
              <a:rPr dirty="0" err="1"/>
              <a:t>cdw</a:t>
            </a:r>
            <a:r>
              <a:rPr dirty="0"/>
              <a:t>[0]</a:t>
            </a:r>
          </a:p>
          <a:p>
            <a:endParaRPr dirty="0"/>
          </a:p>
          <a:p>
            <a:r>
              <a:rPr dirty="0"/>
              <a:t>→ Syndromes ready for error detection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10DF-CA93-6170-F07B-095235D5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3EC31-D148-2FE5-EAF1-0F9A34A84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822841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BEA47-D162-032F-37D2-937C54A4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Rs_elp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AF53E-20C8-E05F-7CF3-12D7996E4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 err="1"/>
              <a:t>rs_elp</a:t>
            </a:r>
            <a:r>
              <a:rPr lang="tr-TR" dirty="0"/>
              <a:t> (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Locator</a:t>
            </a:r>
            <a:r>
              <a:rPr lang="tr-TR" dirty="0"/>
              <a:t> </a:t>
            </a:r>
            <a:r>
              <a:rPr lang="tr-TR" dirty="0" err="1"/>
              <a:t>Polynomial</a:t>
            </a:r>
            <a:r>
              <a:rPr lang="tr-TR" dirty="0"/>
              <a:t> – </a:t>
            </a:r>
            <a:r>
              <a:rPr lang="tr-TR" dirty="0" err="1"/>
              <a:t>Berlekamp</a:t>
            </a:r>
            <a:r>
              <a:rPr lang="tr-TR" dirty="0"/>
              <a:t>–</a:t>
            </a:r>
            <a:r>
              <a:rPr lang="tr-TR" dirty="0" err="1"/>
              <a:t>Massey</a:t>
            </a:r>
            <a:r>
              <a:rPr lang="tr-TR" dirty="0"/>
              <a:t> tarzı)</a:t>
            </a:r>
            <a:br>
              <a:rPr lang="tr-TR" dirty="0"/>
            </a:br>
            <a:r>
              <a:rPr lang="tr-TR" dirty="0"/>
              <a:t>Girdi: (30 byte).</a:t>
            </a:r>
            <a:br>
              <a:rPr lang="tr-TR" dirty="0"/>
            </a:br>
            <a:r>
              <a:rPr lang="tr-TR" dirty="0"/>
              <a:t>Çıktı: </a:t>
            </a:r>
            <a:r>
              <a:rPr lang="tr-TR" dirty="0" err="1"/>
              <a:t>locator</a:t>
            </a:r>
            <a:r>
              <a:rPr lang="tr-TR" dirty="0"/>
              <a:t> </a:t>
            </a:r>
            <a:r>
              <a:rPr lang="tr-TR" dirty="0" err="1"/>
              <a:t>polynomial</a:t>
            </a:r>
            <a:r>
              <a:rPr lang="tr-TR" dirty="0"/>
              <a:t> </a:t>
            </a:r>
            <a:r>
              <a:rPr lang="tr-TR" dirty="0" err="1"/>
              <a:t>sig</a:t>
            </a:r>
            <a:r>
              <a:rPr lang="tr-TR" dirty="0"/>
              <a:t> (16 byte).</a:t>
            </a:r>
            <a:br>
              <a:rPr lang="tr-TR" dirty="0"/>
            </a:br>
            <a:r>
              <a:rPr lang="tr-TR" dirty="0"/>
              <a:t>30 tur dönecek</a:t>
            </a:r>
          </a:p>
          <a:p>
            <a:r>
              <a:rPr lang="tr-TR" dirty="0" err="1"/>
              <a:t>gf_mul</a:t>
            </a:r>
            <a:r>
              <a:rPr lang="tr-TR" dirty="0"/>
              <a:t> ≤15, XOR ≤15</a:t>
            </a:r>
          </a:p>
          <a:p>
            <a:pPr lvl="0"/>
            <a:r>
              <a:rPr lang="tr-TR" dirty="0"/>
              <a:t>derece/</a:t>
            </a:r>
            <a:r>
              <a:rPr lang="tr-TR" dirty="0" err="1"/>
              <a:t>shift</a:t>
            </a:r>
            <a:r>
              <a:rPr lang="tr-TR" dirty="0"/>
              <a:t> kontrolü:</a:t>
            </a:r>
          </a:p>
          <a:p>
            <a:pPr lvl="0"/>
            <a:r>
              <a:rPr lang="tr-TR" dirty="0"/>
              <a:t>küçük byte kopyalama/</a:t>
            </a:r>
            <a:r>
              <a:rPr lang="tr-TR" dirty="0" err="1"/>
              <a:t>shift</a:t>
            </a:r>
            <a:r>
              <a:rPr lang="tr-TR" dirty="0"/>
              <a:t>: O(delta)</a:t>
            </a:r>
          </a:p>
          <a:p>
            <a:r>
              <a:rPr lang="tr-TR" dirty="0"/>
              <a:t>en fazla 30 tur(seferler arası deterministik olmayan bir kısım):</a:t>
            </a:r>
          </a:p>
          <a:p>
            <a:pPr lvl="0"/>
            <a:r>
              <a:rPr lang="tr-TR" dirty="0" err="1"/>
              <a:t>gf_mul</a:t>
            </a:r>
            <a:r>
              <a:rPr lang="tr-TR" dirty="0"/>
              <a:t> ≤930</a:t>
            </a:r>
          </a:p>
          <a:p>
            <a:pPr lvl="0"/>
            <a:r>
              <a:rPr lang="tr-TR" dirty="0" err="1"/>
              <a:t>gf_inv</a:t>
            </a:r>
            <a:r>
              <a:rPr lang="tr-TR" dirty="0"/>
              <a:t> =30</a:t>
            </a:r>
          </a:p>
          <a:p>
            <a:pPr lvl="0"/>
            <a:r>
              <a:rPr lang="tr-TR" dirty="0"/>
              <a:t>XOR ≤900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6459916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8924-7D53-B035-179E-27E84BD1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Rs_roots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D663F-DAD3-6121-8E94-A8B03A4EB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5397" y="1825625"/>
            <a:ext cx="4338402" cy="4351338"/>
          </a:xfrm>
        </p:spPr>
        <p:txBody>
          <a:bodyPr/>
          <a:lstStyle/>
          <a:p>
            <a:r>
              <a:rPr lang="tr-TR" dirty="0"/>
              <a:t>hata pozisyonlarını bulma</a:t>
            </a:r>
          </a:p>
          <a:p>
            <a:r>
              <a:rPr lang="tr-TR" dirty="0"/>
              <a:t>Girdi: </a:t>
            </a:r>
            <a:r>
              <a:rPr lang="tr-TR" dirty="0" err="1"/>
              <a:t>sig</a:t>
            </a:r>
            <a:r>
              <a:rPr lang="tr-TR" dirty="0"/>
              <a:t> (derece ≤15).</a:t>
            </a:r>
            <a:br>
              <a:rPr lang="tr-TR" dirty="0"/>
            </a:br>
            <a:r>
              <a:rPr lang="tr-TR" dirty="0"/>
              <a:t>Çıktı: hata pozisyonları .</a:t>
            </a:r>
          </a:p>
          <a:p>
            <a:r>
              <a:rPr lang="tr-TR" dirty="0"/>
              <a:t>46 tur toplam:</a:t>
            </a:r>
          </a:p>
          <a:p>
            <a:pPr lvl="0"/>
            <a:r>
              <a:rPr lang="tr-TR" dirty="0" err="1"/>
              <a:t>gf_mul</a:t>
            </a:r>
            <a:r>
              <a:rPr lang="tr-TR" dirty="0"/>
              <a:t> ≤736</a:t>
            </a:r>
          </a:p>
          <a:p>
            <a:pPr lvl="0"/>
            <a:r>
              <a:rPr lang="tr-TR" dirty="0"/>
              <a:t>XOR ≤690</a:t>
            </a:r>
          </a:p>
          <a:p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348CDF-EFFA-F9A3-0DC2-B36BB44BA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40" y="1930400"/>
            <a:ext cx="61468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18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</TotalTime>
  <Words>5376</Words>
  <Application>Microsoft Macintosh PowerPoint</Application>
  <PresentationFormat>Widescreen</PresentationFormat>
  <Paragraphs>1123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Aptos</vt:lpstr>
      <vt:lpstr>Aptos Display</vt:lpstr>
      <vt:lpstr>Arial</vt:lpstr>
      <vt:lpstr>Cambria Math</vt:lpstr>
      <vt:lpstr>Wingdings</vt:lpstr>
      <vt:lpstr>Office Theme</vt:lpstr>
      <vt:lpstr>HQC Handbook</vt:lpstr>
      <vt:lpstr>Karatsuba Multiplication</vt:lpstr>
      <vt:lpstr>Karatsuba Multiplication</vt:lpstr>
      <vt:lpstr>Karatsuba Multiplication</vt:lpstr>
      <vt:lpstr>Karatsuba Multiplication</vt:lpstr>
      <vt:lpstr>Karatsuba Multiplication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Reduce</vt:lpstr>
      <vt:lpstr>Vect_mul </vt:lpstr>
      <vt:lpstr>PowerPoint Presentation</vt:lpstr>
      <vt:lpstr>Gf_mul</vt:lpstr>
      <vt:lpstr>Gf_carryless_mul</vt:lpstr>
      <vt:lpstr>Gf_reduce</vt:lpstr>
      <vt:lpstr>Reed_Solomon</vt:lpstr>
      <vt:lpstr>Reed_Solomon Encode</vt:lpstr>
      <vt:lpstr>Reed_Solomon Encode</vt:lpstr>
      <vt:lpstr>Reed_muller_encode</vt:lpstr>
      <vt:lpstr>PowerPoint Presentation</vt:lpstr>
      <vt:lpstr>Encode </vt:lpstr>
      <vt:lpstr>Encode</vt:lpstr>
      <vt:lpstr>Reed_muller_encode</vt:lpstr>
      <vt:lpstr>Reed_muller_decode</vt:lpstr>
      <vt:lpstr>Expand_and_sum</vt:lpstr>
      <vt:lpstr>PowerPoint Presentation</vt:lpstr>
      <vt:lpstr>PowerPoint Presentation</vt:lpstr>
      <vt:lpstr>PowerPoint Presentation</vt:lpstr>
      <vt:lpstr>PowerPoint Presentation</vt:lpstr>
      <vt:lpstr>Fast Hadamard Transform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Find_peaks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Reed_solomon_decode</vt:lpstr>
      <vt:lpstr>Rs_synd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Rs_elp</vt:lpstr>
      <vt:lpstr>Rs_roots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Tuana Durmuş</dc:creator>
  <cp:lastModifiedBy>Tuana Durmuş</cp:lastModifiedBy>
  <cp:revision>13</cp:revision>
  <dcterms:created xsi:type="dcterms:W3CDTF">2025-12-01T13:44:31Z</dcterms:created>
  <dcterms:modified xsi:type="dcterms:W3CDTF">2026-01-18T22:11:44Z</dcterms:modified>
</cp:coreProperties>
</file>